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Lst>
  <p:sldSz cx="18288000" cy="10287000"/>
  <p:notesSz cx="6858000" cy="9144000"/>
  <p:embeddedFontLst>
    <p:embeddedFont>
      <p:font typeface="Calibri" panose="020F0502020204030204" pitchFamily="34" charset="0"/>
      <p:regular r:id="rId8"/>
      <p:bold r:id="rId9"/>
      <p:italic r:id="rId10"/>
      <p:boldItalic r:id="rId11"/>
    </p:embeddedFont>
    <p:embeddedFont>
      <p:font typeface="Garet" panose="020B0604020202020204" charset="0"/>
      <p:regular r:id="rId12"/>
    </p:embeddedFont>
    <p:embeddedFont>
      <p:font typeface="Garet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53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5.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11.svg"/><Relationship Id="rId5" Type="http://schemas.openxmlformats.org/officeDocument/2006/relationships/image" Target="../media/image7.svg"/><Relationship Id="rId10" Type="http://schemas.openxmlformats.org/officeDocument/2006/relationships/image" Target="../media/image10.png"/><Relationship Id="rId4" Type="http://schemas.openxmlformats.org/officeDocument/2006/relationships/image" Target="../media/image6.png"/><Relationship Id="rId9" Type="http://schemas.openxmlformats.org/officeDocument/2006/relationships/image" Target="../media/image9.svg"/></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7.svg"/><Relationship Id="rId7" Type="http://schemas.openxmlformats.org/officeDocument/2006/relationships/image" Target="../media/image3.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3.svg"/><Relationship Id="rId4" Type="http://schemas.openxmlformats.org/officeDocument/2006/relationships/image" Target="../media/image12.png"/><Relationship Id="rId9" Type="http://schemas.openxmlformats.org/officeDocument/2006/relationships/image" Target="../media/image5.sv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svg"/><Relationship Id="rId7" Type="http://schemas.openxmlformats.org/officeDocument/2006/relationships/image" Target="../media/image5.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9.svg"/><Relationship Id="rId3" Type="http://schemas.openxmlformats.org/officeDocument/2006/relationships/image" Target="../media/image3.svg"/><Relationship Id="rId7" Type="http://schemas.openxmlformats.org/officeDocument/2006/relationships/image" Target="../media/image5.svg"/><Relationship Id="rId12"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17.svg"/><Relationship Id="rId5" Type="http://schemas.openxmlformats.org/officeDocument/2006/relationships/image" Target="../media/image7.svg"/><Relationship Id="rId10" Type="http://schemas.openxmlformats.org/officeDocument/2006/relationships/image" Target="../media/image16.png"/><Relationship Id="rId4" Type="http://schemas.openxmlformats.org/officeDocument/2006/relationships/image" Target="../media/image6.png"/><Relationship Id="rId9" Type="http://schemas.openxmlformats.org/officeDocument/2006/relationships/image" Target="../media/image13.sv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21.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5.sv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5284FF">
                <a:alpha val="100000"/>
              </a:srgbClr>
            </a:gs>
            <a:gs pos="100000">
              <a:srgbClr val="000422">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0965300" y="-84714"/>
            <a:ext cx="10371714" cy="1037171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FCDFF">
                    <a:alpha val="0"/>
                  </a:srgbClr>
                </a:gs>
                <a:gs pos="100000">
                  <a:srgbClr val="3964CD">
                    <a:alpha val="100000"/>
                  </a:srgbClr>
                </a:gs>
              </a:gsLst>
              <a:lin ang="0"/>
            </a:gradFill>
          </p:spPr>
        </p:sp>
        <p:sp>
          <p:nvSpPr>
            <p:cNvPr id="4" name="TextBox 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9911749" y="2113405"/>
            <a:ext cx="6372983" cy="5980011"/>
          </a:xfrm>
          <a:custGeom>
            <a:avLst/>
            <a:gdLst/>
            <a:ahLst/>
            <a:cxnLst/>
            <a:rect l="l" t="t" r="r" b="b"/>
            <a:pathLst>
              <a:path w="6372983" h="5980011">
                <a:moveTo>
                  <a:pt x="0" y="0"/>
                </a:moveTo>
                <a:lnTo>
                  <a:pt x="6372984" y="0"/>
                </a:lnTo>
                <a:lnTo>
                  <a:pt x="6372984" y="5980011"/>
                </a:lnTo>
                <a:lnTo>
                  <a:pt x="0" y="5980011"/>
                </a:lnTo>
                <a:lnTo>
                  <a:pt x="0" y="0"/>
                </a:lnTo>
                <a:close/>
              </a:path>
            </a:pathLst>
          </a:custGeom>
          <a:blipFill>
            <a:blip r:embed="rId2"/>
            <a:stretch>
              <a:fillRect/>
            </a:stretch>
          </a:blipFill>
        </p:spPr>
      </p:sp>
      <p:grpSp>
        <p:nvGrpSpPr>
          <p:cNvPr id="6" name="Group 6"/>
          <p:cNvGrpSpPr/>
          <p:nvPr/>
        </p:nvGrpSpPr>
        <p:grpSpPr>
          <a:xfrm rot="10407285">
            <a:off x="-5710435" y="-188170"/>
            <a:ext cx="10371714" cy="1037171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FCDFF">
                    <a:alpha val="0"/>
                  </a:srgbClr>
                </a:gs>
                <a:gs pos="100000">
                  <a:srgbClr val="3964CD">
                    <a:alpha val="100000"/>
                  </a:srgbClr>
                </a:gs>
              </a:gsLst>
              <a:lin ang="0"/>
            </a:gradFill>
          </p:spPr>
        </p:sp>
        <p:sp>
          <p:nvSpPr>
            <p:cNvPr id="8" name="TextBox 8"/>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9" name="Freeform 9"/>
          <p:cNvSpPr/>
          <p:nvPr/>
        </p:nvSpPr>
        <p:spPr>
          <a:xfrm>
            <a:off x="1766236" y="2346444"/>
            <a:ext cx="507275" cy="507275"/>
          </a:xfrm>
          <a:custGeom>
            <a:avLst/>
            <a:gdLst/>
            <a:ahLst/>
            <a:cxnLst/>
            <a:rect l="l" t="t" r="r" b="b"/>
            <a:pathLst>
              <a:path w="507275" h="507275">
                <a:moveTo>
                  <a:pt x="0" y="0"/>
                </a:moveTo>
                <a:lnTo>
                  <a:pt x="507275" y="0"/>
                </a:lnTo>
                <a:lnTo>
                  <a:pt x="507275" y="507275"/>
                </a:lnTo>
                <a:lnTo>
                  <a:pt x="0" y="5072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a:off x="1755684" y="7682399"/>
            <a:ext cx="5529644" cy="563018"/>
          </a:xfrm>
          <a:custGeom>
            <a:avLst/>
            <a:gdLst/>
            <a:ahLst/>
            <a:cxnLst/>
            <a:rect l="l" t="t" r="r" b="b"/>
            <a:pathLst>
              <a:path w="5529644" h="563018">
                <a:moveTo>
                  <a:pt x="0" y="0"/>
                </a:moveTo>
                <a:lnTo>
                  <a:pt x="5529643" y="0"/>
                </a:lnTo>
                <a:lnTo>
                  <a:pt x="5529643" y="563018"/>
                </a:lnTo>
                <a:lnTo>
                  <a:pt x="0" y="56301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a:off x="16940833" y="4782676"/>
            <a:ext cx="636934" cy="636934"/>
          </a:xfrm>
          <a:custGeom>
            <a:avLst/>
            <a:gdLst/>
            <a:ahLst/>
            <a:cxnLst/>
            <a:rect l="l" t="t" r="r" b="b"/>
            <a:pathLst>
              <a:path w="636934" h="636934">
                <a:moveTo>
                  <a:pt x="0" y="0"/>
                </a:moveTo>
                <a:lnTo>
                  <a:pt x="636934" y="0"/>
                </a:lnTo>
                <a:lnTo>
                  <a:pt x="636934" y="636934"/>
                </a:lnTo>
                <a:lnTo>
                  <a:pt x="0" y="63693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2" name="TextBox 12"/>
          <p:cNvSpPr txBox="1"/>
          <p:nvPr/>
        </p:nvSpPr>
        <p:spPr>
          <a:xfrm>
            <a:off x="1766236" y="3637090"/>
            <a:ext cx="7690481" cy="1649839"/>
          </a:xfrm>
          <a:prstGeom prst="rect">
            <a:avLst/>
          </a:prstGeom>
        </p:spPr>
        <p:txBody>
          <a:bodyPr lIns="0" tIns="0" rIns="0" bIns="0" rtlCol="0" anchor="t">
            <a:spAutoFit/>
          </a:bodyPr>
          <a:lstStyle/>
          <a:p>
            <a:pPr marL="0" lvl="0" indent="0" algn="l">
              <a:lnSpc>
                <a:spcPts val="6658"/>
              </a:lnSpc>
              <a:spcBef>
                <a:spcPct val="0"/>
              </a:spcBef>
            </a:pPr>
            <a:r>
              <a:rPr lang="en-US" sz="4755" spc="-218">
                <a:solidFill>
                  <a:srgbClr val="EBF5FE"/>
                </a:solidFill>
                <a:latin typeface="Garet"/>
                <a:ea typeface="Garet"/>
                <a:cs typeface="Garet"/>
                <a:sym typeface="Garet"/>
              </a:rPr>
              <a:t>DSS</a:t>
            </a:r>
          </a:p>
          <a:p>
            <a:pPr marL="0" lvl="0" indent="0" algn="l">
              <a:lnSpc>
                <a:spcPts val="6658"/>
              </a:lnSpc>
              <a:spcBef>
                <a:spcPct val="0"/>
              </a:spcBef>
            </a:pPr>
            <a:r>
              <a:rPr lang="en-US" sz="4755" spc="-218">
                <a:solidFill>
                  <a:srgbClr val="EBF5FE"/>
                </a:solidFill>
                <a:latin typeface="Garet"/>
                <a:ea typeface="Garet"/>
                <a:cs typeface="Garet"/>
                <a:sym typeface="Garet"/>
              </a:rPr>
              <a:t>SUPPLIER</a:t>
            </a:r>
          </a:p>
        </p:txBody>
      </p:sp>
      <p:sp>
        <p:nvSpPr>
          <p:cNvPr id="13" name="TextBox 13"/>
          <p:cNvSpPr txBox="1"/>
          <p:nvPr/>
        </p:nvSpPr>
        <p:spPr>
          <a:xfrm>
            <a:off x="1766236" y="4911962"/>
            <a:ext cx="7690481" cy="803125"/>
          </a:xfrm>
          <a:prstGeom prst="rect">
            <a:avLst/>
          </a:prstGeom>
        </p:spPr>
        <p:txBody>
          <a:bodyPr lIns="0" tIns="0" rIns="0" bIns="0" rtlCol="0" anchor="t">
            <a:spAutoFit/>
          </a:bodyPr>
          <a:lstStyle/>
          <a:p>
            <a:pPr marL="0" lvl="0" indent="0" algn="l">
              <a:lnSpc>
                <a:spcPts val="6658"/>
              </a:lnSpc>
              <a:spcBef>
                <a:spcPct val="0"/>
              </a:spcBef>
            </a:pPr>
            <a:r>
              <a:rPr lang="en-US" sz="4755" b="1" spc="-218">
                <a:solidFill>
                  <a:srgbClr val="EBF5FE"/>
                </a:solidFill>
                <a:latin typeface="Garet Bold"/>
                <a:ea typeface="Garet Bold"/>
                <a:cs typeface="Garet Bold"/>
                <a:sym typeface="Garet Bold"/>
              </a:rPr>
              <a:t>SELECTION</a:t>
            </a:r>
          </a:p>
        </p:txBody>
      </p:sp>
      <p:sp>
        <p:nvSpPr>
          <p:cNvPr id="14" name="TextBox 14"/>
          <p:cNvSpPr txBox="1"/>
          <p:nvPr/>
        </p:nvSpPr>
        <p:spPr>
          <a:xfrm>
            <a:off x="2565835" y="2388829"/>
            <a:ext cx="2245956" cy="235332"/>
          </a:xfrm>
          <a:prstGeom prst="rect">
            <a:avLst/>
          </a:prstGeom>
        </p:spPr>
        <p:txBody>
          <a:bodyPr lIns="0" tIns="0" rIns="0" bIns="0" rtlCol="0" anchor="t">
            <a:spAutoFit/>
          </a:bodyPr>
          <a:lstStyle/>
          <a:p>
            <a:pPr marL="0" lvl="0" indent="0" algn="l">
              <a:lnSpc>
                <a:spcPts val="1994"/>
              </a:lnSpc>
              <a:spcBef>
                <a:spcPct val="0"/>
              </a:spcBef>
            </a:pPr>
            <a:r>
              <a:rPr lang="en-US" sz="1424" spc="-65">
                <a:solidFill>
                  <a:srgbClr val="EBF5FE"/>
                </a:solidFill>
                <a:latin typeface="Garet"/>
                <a:ea typeface="Garet"/>
                <a:cs typeface="Garet"/>
                <a:sym typeface="Garet"/>
              </a:rPr>
              <a:t>Struktur Data</a:t>
            </a:r>
          </a:p>
        </p:txBody>
      </p:sp>
      <p:sp>
        <p:nvSpPr>
          <p:cNvPr id="15" name="TextBox 15"/>
          <p:cNvSpPr txBox="1"/>
          <p:nvPr/>
        </p:nvSpPr>
        <p:spPr>
          <a:xfrm>
            <a:off x="2565835" y="7860085"/>
            <a:ext cx="4132080" cy="207645"/>
          </a:xfrm>
          <a:prstGeom prst="rect">
            <a:avLst/>
          </a:prstGeom>
        </p:spPr>
        <p:txBody>
          <a:bodyPr lIns="0" tIns="0" rIns="0" bIns="0" rtlCol="0" anchor="t">
            <a:spAutoFit/>
          </a:bodyPr>
          <a:lstStyle/>
          <a:p>
            <a:pPr marL="0" lvl="0" indent="0" algn="l">
              <a:lnSpc>
                <a:spcPts val="1679"/>
              </a:lnSpc>
              <a:spcBef>
                <a:spcPct val="0"/>
              </a:spcBef>
            </a:pPr>
            <a:r>
              <a:rPr lang="en-US" sz="1200" b="1" spc="-55" dirty="0" err="1">
                <a:solidFill>
                  <a:srgbClr val="3C67BF"/>
                </a:solidFill>
                <a:latin typeface="Garet Bold"/>
                <a:ea typeface="Garet Bold"/>
                <a:cs typeface="Garet Bold"/>
                <a:sym typeface="Garet Bold"/>
              </a:rPr>
              <a:t>Implementasi</a:t>
            </a:r>
            <a:r>
              <a:rPr lang="en-US" sz="1200" b="1" spc="-55" dirty="0">
                <a:solidFill>
                  <a:srgbClr val="3C67BF"/>
                </a:solidFill>
                <a:latin typeface="Garet Bold"/>
                <a:ea typeface="Garet Bold"/>
                <a:cs typeface="Garet Bold"/>
                <a:sym typeface="Garet Bold"/>
              </a:rPr>
              <a:t> Graph - </a:t>
            </a:r>
            <a:r>
              <a:rPr lang="en-US" sz="1200" b="1" spc="-55" dirty="0" err="1">
                <a:solidFill>
                  <a:srgbClr val="3C67BF"/>
                </a:solidFill>
                <a:latin typeface="Garet Bold"/>
                <a:ea typeface="Garet Bold"/>
                <a:cs typeface="Garet Bold"/>
                <a:sym typeface="Garet Bold"/>
              </a:rPr>
              <a:t>Algoritma</a:t>
            </a:r>
            <a:r>
              <a:rPr lang="en-US" sz="1200" b="1" spc="-55" dirty="0">
                <a:solidFill>
                  <a:srgbClr val="3C67BF"/>
                </a:solidFill>
                <a:latin typeface="Garet Bold"/>
                <a:ea typeface="Garet Bold"/>
                <a:cs typeface="Garet Bold"/>
                <a:sym typeface="Garet Bold"/>
              </a:rPr>
              <a:t> Dijkstra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5284FF">
                <a:alpha val="100000"/>
              </a:srgbClr>
            </a:gs>
            <a:gs pos="100000">
              <a:srgbClr val="000422">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10517729">
            <a:off x="-2903692" y="-84714"/>
            <a:ext cx="10371714" cy="1037171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FCDFF">
                    <a:alpha val="0"/>
                  </a:srgbClr>
                </a:gs>
                <a:gs pos="100000">
                  <a:srgbClr val="3964CD">
                    <a:alpha val="100000"/>
                  </a:srgbClr>
                </a:gs>
              </a:gsLst>
              <a:lin ang="0"/>
            </a:gradFill>
          </p:spPr>
        </p:sp>
        <p:sp>
          <p:nvSpPr>
            <p:cNvPr id="4" name="TextBox 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727020" y="963351"/>
            <a:ext cx="352190" cy="352190"/>
          </a:xfrm>
          <a:custGeom>
            <a:avLst/>
            <a:gdLst/>
            <a:ahLst/>
            <a:cxnLst/>
            <a:rect l="l" t="t" r="r" b="b"/>
            <a:pathLst>
              <a:path w="352190" h="352190">
                <a:moveTo>
                  <a:pt x="0" y="0"/>
                </a:moveTo>
                <a:lnTo>
                  <a:pt x="352190" y="0"/>
                </a:lnTo>
                <a:lnTo>
                  <a:pt x="352190" y="352190"/>
                </a:lnTo>
                <a:lnTo>
                  <a:pt x="0" y="35219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6784291" y="901942"/>
            <a:ext cx="475009" cy="475009"/>
          </a:xfrm>
          <a:custGeom>
            <a:avLst/>
            <a:gdLst/>
            <a:ahLst/>
            <a:cxnLst/>
            <a:rect l="l" t="t" r="r" b="b"/>
            <a:pathLst>
              <a:path w="475009" h="475009">
                <a:moveTo>
                  <a:pt x="0" y="0"/>
                </a:moveTo>
                <a:lnTo>
                  <a:pt x="475009" y="0"/>
                </a:lnTo>
                <a:lnTo>
                  <a:pt x="475009" y="475009"/>
                </a:lnTo>
                <a:lnTo>
                  <a:pt x="0" y="4750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727020" y="8790012"/>
            <a:ext cx="4599258" cy="468288"/>
          </a:xfrm>
          <a:custGeom>
            <a:avLst/>
            <a:gdLst/>
            <a:ahLst/>
            <a:cxnLst/>
            <a:rect l="l" t="t" r="r" b="b"/>
            <a:pathLst>
              <a:path w="4599258" h="468288">
                <a:moveTo>
                  <a:pt x="0" y="0"/>
                </a:moveTo>
                <a:lnTo>
                  <a:pt x="4599258" y="0"/>
                </a:lnTo>
                <a:lnTo>
                  <a:pt x="4599258" y="468288"/>
                </a:lnTo>
                <a:lnTo>
                  <a:pt x="0" y="46828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2079210" y="1730543"/>
            <a:ext cx="4492692" cy="6825913"/>
          </a:xfrm>
          <a:custGeom>
            <a:avLst/>
            <a:gdLst/>
            <a:ahLst/>
            <a:cxnLst/>
            <a:rect l="l" t="t" r="r" b="b"/>
            <a:pathLst>
              <a:path w="4492692" h="6825913">
                <a:moveTo>
                  <a:pt x="0" y="0"/>
                </a:moveTo>
                <a:lnTo>
                  <a:pt x="4492692" y="0"/>
                </a:lnTo>
                <a:lnTo>
                  <a:pt x="4492692" y="6825914"/>
                </a:lnTo>
                <a:lnTo>
                  <a:pt x="0" y="682591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a:off x="3841484" y="3638893"/>
            <a:ext cx="3665913" cy="4114800"/>
          </a:xfrm>
          <a:custGeom>
            <a:avLst/>
            <a:gdLst/>
            <a:ahLst/>
            <a:cxnLst/>
            <a:rect l="l" t="t" r="r" b="b"/>
            <a:pathLst>
              <a:path w="3665913" h="4114800">
                <a:moveTo>
                  <a:pt x="0" y="0"/>
                </a:moveTo>
                <a:lnTo>
                  <a:pt x="3665912" y="0"/>
                </a:lnTo>
                <a:lnTo>
                  <a:pt x="3665912"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0" name="TextBox 10"/>
          <p:cNvSpPr txBox="1"/>
          <p:nvPr/>
        </p:nvSpPr>
        <p:spPr>
          <a:xfrm>
            <a:off x="2282165" y="967905"/>
            <a:ext cx="1559319" cy="300848"/>
          </a:xfrm>
          <a:prstGeom prst="rect">
            <a:avLst/>
          </a:prstGeom>
        </p:spPr>
        <p:txBody>
          <a:bodyPr lIns="0" tIns="0" rIns="0" bIns="0" rtlCol="0" anchor="t">
            <a:spAutoFit/>
          </a:bodyPr>
          <a:lstStyle/>
          <a:p>
            <a:pPr marL="0" lvl="0" indent="0" algn="l">
              <a:lnSpc>
                <a:spcPts val="2425"/>
              </a:lnSpc>
              <a:spcBef>
                <a:spcPct val="0"/>
              </a:spcBef>
            </a:pPr>
            <a:r>
              <a:rPr lang="en-US" sz="1732" spc="-79">
                <a:solidFill>
                  <a:srgbClr val="EBF5FE"/>
                </a:solidFill>
                <a:latin typeface="Garet"/>
                <a:ea typeface="Garet"/>
                <a:cs typeface="Garet"/>
                <a:sym typeface="Garet"/>
              </a:rPr>
              <a:t>Struktur Data</a:t>
            </a:r>
          </a:p>
        </p:txBody>
      </p:sp>
      <p:sp>
        <p:nvSpPr>
          <p:cNvPr id="11" name="TextBox 11"/>
          <p:cNvSpPr txBox="1"/>
          <p:nvPr/>
        </p:nvSpPr>
        <p:spPr>
          <a:xfrm>
            <a:off x="2534210" y="8854139"/>
            <a:ext cx="3303490" cy="302675"/>
          </a:xfrm>
          <a:prstGeom prst="rect">
            <a:avLst/>
          </a:prstGeom>
        </p:spPr>
        <p:txBody>
          <a:bodyPr lIns="0" tIns="0" rIns="0" bIns="0" rtlCol="0" anchor="t">
            <a:spAutoFit/>
          </a:bodyPr>
          <a:lstStyle/>
          <a:p>
            <a:pPr marL="0" lvl="0" indent="0" algn="l">
              <a:lnSpc>
                <a:spcPts val="2447"/>
              </a:lnSpc>
              <a:spcBef>
                <a:spcPct val="0"/>
              </a:spcBef>
            </a:pPr>
            <a:r>
              <a:rPr lang="en-US" sz="1747" b="1" spc="-80" dirty="0">
                <a:solidFill>
                  <a:srgbClr val="3C67BF"/>
                </a:solidFill>
                <a:latin typeface="Garet Bold"/>
                <a:ea typeface="Garet Bold"/>
                <a:cs typeface="Garet Bold"/>
                <a:sym typeface="Garet Bold"/>
              </a:rPr>
              <a:t>DSS </a:t>
            </a:r>
            <a:r>
              <a:rPr lang="en-US" sz="1747" b="1" spc="-80" dirty="0" err="1">
                <a:solidFill>
                  <a:srgbClr val="3C67BF"/>
                </a:solidFill>
                <a:latin typeface="Garet Bold"/>
                <a:ea typeface="Garet Bold"/>
                <a:cs typeface="Garet Bold"/>
                <a:sym typeface="Garet Bold"/>
              </a:rPr>
              <a:t>Pemilihan</a:t>
            </a:r>
            <a:r>
              <a:rPr lang="en-US" sz="1747" b="1" spc="-80" dirty="0">
                <a:solidFill>
                  <a:srgbClr val="3C67BF"/>
                </a:solidFill>
                <a:latin typeface="Garet Bold"/>
                <a:ea typeface="Garet Bold"/>
                <a:cs typeface="Garet Bold"/>
                <a:sym typeface="Garet Bold"/>
              </a:rPr>
              <a:t> Supplier - Graph</a:t>
            </a:r>
          </a:p>
        </p:txBody>
      </p:sp>
      <p:sp>
        <p:nvSpPr>
          <p:cNvPr id="12" name="TextBox 12"/>
          <p:cNvSpPr txBox="1"/>
          <p:nvPr/>
        </p:nvSpPr>
        <p:spPr>
          <a:xfrm>
            <a:off x="16070360" y="8854139"/>
            <a:ext cx="1188940" cy="298502"/>
          </a:xfrm>
          <a:prstGeom prst="rect">
            <a:avLst/>
          </a:prstGeom>
        </p:spPr>
        <p:txBody>
          <a:bodyPr lIns="0" tIns="0" rIns="0" bIns="0" rtlCol="0" anchor="t">
            <a:spAutoFit/>
          </a:bodyPr>
          <a:lstStyle/>
          <a:p>
            <a:pPr marL="0" lvl="0" indent="0" algn="l">
              <a:lnSpc>
                <a:spcPts val="2447"/>
              </a:lnSpc>
              <a:spcBef>
                <a:spcPct val="0"/>
              </a:spcBef>
            </a:pPr>
            <a:r>
              <a:rPr lang="en-US" sz="1747" spc="-80">
                <a:solidFill>
                  <a:srgbClr val="EBF5FE"/>
                </a:solidFill>
                <a:latin typeface="Garet"/>
                <a:ea typeface="Garet"/>
                <a:cs typeface="Garet"/>
                <a:sym typeface="Garet"/>
              </a:rPr>
              <a:t>page 002</a:t>
            </a:r>
          </a:p>
        </p:txBody>
      </p:sp>
      <p:sp>
        <p:nvSpPr>
          <p:cNvPr id="13" name="TextBox 13"/>
          <p:cNvSpPr txBox="1"/>
          <p:nvPr/>
        </p:nvSpPr>
        <p:spPr>
          <a:xfrm>
            <a:off x="8194870" y="2348075"/>
            <a:ext cx="7718469" cy="1281896"/>
          </a:xfrm>
          <a:prstGeom prst="rect">
            <a:avLst/>
          </a:prstGeom>
        </p:spPr>
        <p:txBody>
          <a:bodyPr lIns="0" tIns="0" rIns="0" bIns="0" rtlCol="0" anchor="t">
            <a:spAutoFit/>
          </a:bodyPr>
          <a:lstStyle/>
          <a:p>
            <a:pPr marL="0" lvl="0" indent="0" algn="l">
              <a:lnSpc>
                <a:spcPts val="10566"/>
              </a:lnSpc>
              <a:spcBef>
                <a:spcPct val="0"/>
              </a:spcBef>
            </a:pPr>
            <a:r>
              <a:rPr lang="en-US" sz="7547" spc="-347">
                <a:solidFill>
                  <a:srgbClr val="EBF5FE"/>
                </a:solidFill>
                <a:latin typeface="Garet"/>
                <a:ea typeface="Garet"/>
                <a:cs typeface="Garet"/>
                <a:sym typeface="Garet"/>
              </a:rPr>
              <a:t>INFORMASI</a:t>
            </a:r>
          </a:p>
        </p:txBody>
      </p:sp>
      <p:sp>
        <p:nvSpPr>
          <p:cNvPr id="14" name="TextBox 14"/>
          <p:cNvSpPr txBox="1"/>
          <p:nvPr/>
        </p:nvSpPr>
        <p:spPr>
          <a:xfrm>
            <a:off x="8194870" y="3268854"/>
            <a:ext cx="5620038" cy="1281896"/>
          </a:xfrm>
          <a:prstGeom prst="rect">
            <a:avLst/>
          </a:prstGeom>
        </p:spPr>
        <p:txBody>
          <a:bodyPr lIns="0" tIns="0" rIns="0" bIns="0" rtlCol="0" anchor="t">
            <a:spAutoFit/>
          </a:bodyPr>
          <a:lstStyle/>
          <a:p>
            <a:pPr marL="0" lvl="0" indent="0" algn="l">
              <a:lnSpc>
                <a:spcPts val="10566"/>
              </a:lnSpc>
              <a:spcBef>
                <a:spcPct val="0"/>
              </a:spcBef>
            </a:pPr>
            <a:r>
              <a:rPr lang="en-US" sz="7547" b="1" spc="-347">
                <a:solidFill>
                  <a:srgbClr val="EBF5FE"/>
                </a:solidFill>
                <a:latin typeface="Garet Bold"/>
                <a:ea typeface="Garet Bold"/>
                <a:cs typeface="Garet Bold"/>
                <a:sym typeface="Garet Bold"/>
              </a:rPr>
              <a:t>PROYEK</a:t>
            </a:r>
          </a:p>
        </p:txBody>
      </p:sp>
      <p:sp>
        <p:nvSpPr>
          <p:cNvPr id="15" name="TextBox 15"/>
          <p:cNvSpPr txBox="1"/>
          <p:nvPr/>
        </p:nvSpPr>
        <p:spPr>
          <a:xfrm>
            <a:off x="8194870" y="4763666"/>
            <a:ext cx="7875490" cy="2653103"/>
          </a:xfrm>
          <a:prstGeom prst="rect">
            <a:avLst/>
          </a:prstGeom>
        </p:spPr>
        <p:txBody>
          <a:bodyPr lIns="0" tIns="0" rIns="0" bIns="0" rtlCol="0" anchor="t">
            <a:spAutoFit/>
          </a:bodyPr>
          <a:lstStyle/>
          <a:p>
            <a:pPr marL="0" lvl="0" indent="0" algn="just">
              <a:lnSpc>
                <a:spcPts val="2340"/>
              </a:lnSpc>
              <a:spcBef>
                <a:spcPct val="0"/>
              </a:spcBef>
            </a:pPr>
            <a:r>
              <a:rPr lang="en-US" sz="1672" spc="-76">
                <a:solidFill>
                  <a:srgbClr val="EBF5FE"/>
                </a:solidFill>
                <a:latin typeface="Garet"/>
                <a:ea typeface="Garet"/>
                <a:cs typeface="Garet"/>
                <a:sym typeface="Garet"/>
              </a:rPr>
              <a:t>Judul: Implementasi Graph sebagai DSS (Decision Support System) Pemilihan Supplier. Mata Kuliah: Struktur Data | Sub Materi: Graph (Graf).</a:t>
            </a:r>
          </a:p>
          <a:p>
            <a:pPr marL="0" lvl="0" indent="0" algn="just">
              <a:lnSpc>
                <a:spcPts val="2340"/>
              </a:lnSpc>
              <a:spcBef>
                <a:spcPct val="0"/>
              </a:spcBef>
            </a:pPr>
            <a:r>
              <a:rPr lang="en-US" sz="1672" spc="-76">
                <a:solidFill>
                  <a:srgbClr val="EBF5FE"/>
                </a:solidFill>
                <a:latin typeface="Garet"/>
                <a:ea typeface="Garet"/>
                <a:cs typeface="Garet"/>
                <a:sym typeface="Garet"/>
              </a:rPr>
              <a:t>Algoritma: Dijkstra — digunakan untuk mencari jalur terpendek dari Pabrik ke Supplier berdasarkan bobot kriteria.</a:t>
            </a:r>
          </a:p>
          <a:p>
            <a:pPr marL="0" lvl="0" indent="0" algn="just">
              <a:lnSpc>
                <a:spcPts val="2340"/>
              </a:lnSpc>
              <a:spcBef>
                <a:spcPct val="0"/>
              </a:spcBef>
            </a:pPr>
            <a:r>
              <a:rPr lang="en-US" sz="1672" spc="-76">
                <a:solidFill>
                  <a:srgbClr val="EBF5FE"/>
                </a:solidFill>
                <a:latin typeface="Garet"/>
                <a:ea typeface="Garet"/>
                <a:cs typeface="Garet"/>
                <a:sym typeface="Garet"/>
              </a:rPr>
              <a:t>Jenis Graph: Weighted Graph + Undirected Graph + Adjacency List.</a:t>
            </a:r>
          </a:p>
          <a:p>
            <a:pPr marL="0" lvl="0" indent="0" algn="just">
              <a:lnSpc>
                <a:spcPts val="2340"/>
              </a:lnSpc>
              <a:spcBef>
                <a:spcPct val="0"/>
              </a:spcBef>
            </a:pPr>
            <a:r>
              <a:rPr lang="en-US" sz="1672" spc="-76">
                <a:solidFill>
                  <a:srgbClr val="EBF5FE"/>
                </a:solidFill>
                <a:latin typeface="Garet"/>
                <a:ea typeface="Garet"/>
                <a:cs typeface="Garet"/>
                <a:sym typeface="Garet"/>
              </a:rPr>
              <a:t>Teknologi: Python, Streamlit, Pandas, NetworkX, Matplotlib.</a:t>
            </a:r>
          </a:p>
          <a:p>
            <a:pPr marL="0" lvl="0" indent="0" algn="just">
              <a:lnSpc>
                <a:spcPts val="2340"/>
              </a:lnSpc>
              <a:spcBef>
                <a:spcPct val="0"/>
              </a:spcBef>
            </a:pPr>
            <a:r>
              <a:rPr lang="en-US" sz="1672" spc="-76">
                <a:solidFill>
                  <a:srgbClr val="EBF5FE"/>
                </a:solidFill>
                <a:latin typeface="Garet"/>
                <a:ea typeface="Garet"/>
                <a:cs typeface="Garet"/>
                <a:sym typeface="Garet"/>
              </a:rPr>
              <a:t>Tujuan: Membangun sistem pendukung keputusan yang memanfaatkan struktur data Graf untuk memilih supplier terbaik secara objektif berdasarkan kriteria Harga, Jarak, Kualitas, dan Waktu Kirim.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5284FF">
                <a:alpha val="100000"/>
              </a:srgbClr>
            </a:gs>
            <a:gs pos="100000">
              <a:srgbClr val="000422">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6784291" y="901942"/>
            <a:ext cx="475009" cy="475009"/>
          </a:xfrm>
          <a:custGeom>
            <a:avLst/>
            <a:gdLst/>
            <a:ahLst/>
            <a:cxnLst/>
            <a:rect l="l" t="t" r="r" b="b"/>
            <a:pathLst>
              <a:path w="475009" h="475009">
                <a:moveTo>
                  <a:pt x="0" y="0"/>
                </a:moveTo>
                <a:lnTo>
                  <a:pt x="475009" y="0"/>
                </a:lnTo>
                <a:lnTo>
                  <a:pt x="475009" y="475009"/>
                </a:lnTo>
                <a:lnTo>
                  <a:pt x="0" y="47500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104900" y="2621180"/>
            <a:ext cx="4017831" cy="701294"/>
          </a:xfrm>
          <a:custGeom>
            <a:avLst/>
            <a:gdLst/>
            <a:ahLst/>
            <a:cxnLst/>
            <a:rect l="l" t="t" r="r" b="b"/>
            <a:pathLst>
              <a:path w="4017831" h="701294">
                <a:moveTo>
                  <a:pt x="0" y="0"/>
                </a:moveTo>
                <a:lnTo>
                  <a:pt x="4017831" y="0"/>
                </a:lnTo>
                <a:lnTo>
                  <a:pt x="4017831" y="701294"/>
                </a:lnTo>
                <a:lnTo>
                  <a:pt x="0" y="701294"/>
                </a:lnTo>
                <a:lnTo>
                  <a:pt x="0" y="0"/>
                </a:lnTo>
                <a:close/>
              </a:path>
            </a:pathLst>
          </a:custGeom>
          <a:blipFill>
            <a:blip r:embed="rId4">
              <a:alphaModFix amt="48000"/>
              <a:extLst>
                <a:ext uri="{96DAC541-7B7A-43D3-8B79-37D633B846F1}">
                  <asvg:svgBlip xmlns:asvg="http://schemas.microsoft.com/office/drawing/2016/SVG/main" r:embed="rId5"/>
                </a:ext>
              </a:extLst>
            </a:blip>
            <a:stretch>
              <a:fillRect/>
            </a:stretch>
          </a:blipFill>
        </p:spPr>
      </p:sp>
      <p:sp>
        <p:nvSpPr>
          <p:cNvPr id="4" name="Freeform 4"/>
          <p:cNvSpPr/>
          <p:nvPr/>
        </p:nvSpPr>
        <p:spPr>
          <a:xfrm>
            <a:off x="1727020" y="963351"/>
            <a:ext cx="352190" cy="352190"/>
          </a:xfrm>
          <a:custGeom>
            <a:avLst/>
            <a:gdLst/>
            <a:ahLst/>
            <a:cxnLst/>
            <a:rect l="l" t="t" r="r" b="b"/>
            <a:pathLst>
              <a:path w="352190" h="352190">
                <a:moveTo>
                  <a:pt x="0" y="0"/>
                </a:moveTo>
                <a:lnTo>
                  <a:pt x="352190" y="0"/>
                </a:lnTo>
                <a:lnTo>
                  <a:pt x="352190" y="352190"/>
                </a:lnTo>
                <a:lnTo>
                  <a:pt x="0" y="35219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6857776" y="8792688"/>
            <a:ext cx="4599258" cy="468288"/>
          </a:xfrm>
          <a:custGeom>
            <a:avLst/>
            <a:gdLst/>
            <a:ahLst/>
            <a:cxnLst/>
            <a:rect l="l" t="t" r="r" b="b"/>
            <a:pathLst>
              <a:path w="4599258" h="468288">
                <a:moveTo>
                  <a:pt x="0" y="0"/>
                </a:moveTo>
                <a:lnTo>
                  <a:pt x="4599258" y="0"/>
                </a:lnTo>
                <a:lnTo>
                  <a:pt x="4599258" y="468288"/>
                </a:lnTo>
                <a:lnTo>
                  <a:pt x="0" y="46828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16070360" y="8854139"/>
            <a:ext cx="1188940" cy="298502"/>
          </a:xfrm>
          <a:prstGeom prst="rect">
            <a:avLst/>
          </a:prstGeom>
        </p:spPr>
        <p:txBody>
          <a:bodyPr lIns="0" tIns="0" rIns="0" bIns="0" rtlCol="0" anchor="t">
            <a:spAutoFit/>
          </a:bodyPr>
          <a:lstStyle/>
          <a:p>
            <a:pPr marL="0" lvl="0" indent="0" algn="l">
              <a:lnSpc>
                <a:spcPts val="2447"/>
              </a:lnSpc>
              <a:spcBef>
                <a:spcPct val="0"/>
              </a:spcBef>
            </a:pPr>
            <a:r>
              <a:rPr lang="en-US" sz="1747" spc="-80">
                <a:solidFill>
                  <a:srgbClr val="EBF5FE"/>
                </a:solidFill>
                <a:latin typeface="Garet"/>
                <a:ea typeface="Garet"/>
                <a:cs typeface="Garet"/>
                <a:sym typeface="Garet"/>
              </a:rPr>
              <a:t>page 003</a:t>
            </a:r>
          </a:p>
        </p:txBody>
      </p:sp>
      <p:sp>
        <p:nvSpPr>
          <p:cNvPr id="7" name="TextBox 7"/>
          <p:cNvSpPr txBox="1"/>
          <p:nvPr/>
        </p:nvSpPr>
        <p:spPr>
          <a:xfrm>
            <a:off x="6915965" y="1971964"/>
            <a:ext cx="4626067" cy="970674"/>
          </a:xfrm>
          <a:prstGeom prst="rect">
            <a:avLst/>
          </a:prstGeom>
        </p:spPr>
        <p:txBody>
          <a:bodyPr lIns="0" tIns="0" rIns="0" bIns="0" rtlCol="0" anchor="t">
            <a:spAutoFit/>
          </a:bodyPr>
          <a:lstStyle/>
          <a:p>
            <a:pPr marL="0" lvl="0" indent="0" algn="ctr">
              <a:lnSpc>
                <a:spcPts val="7923"/>
              </a:lnSpc>
              <a:spcBef>
                <a:spcPct val="0"/>
              </a:spcBef>
            </a:pPr>
            <a:r>
              <a:rPr lang="en-US" sz="5659" spc="-260">
                <a:solidFill>
                  <a:srgbClr val="EBF5FE"/>
                </a:solidFill>
                <a:latin typeface="Garet"/>
                <a:ea typeface="Garet"/>
                <a:cs typeface="Garet"/>
                <a:sym typeface="Garet"/>
              </a:rPr>
              <a:t>TEKNOLOGI &amp;</a:t>
            </a:r>
          </a:p>
        </p:txBody>
      </p:sp>
      <p:sp>
        <p:nvSpPr>
          <p:cNvPr id="8" name="TextBox 8"/>
          <p:cNvSpPr txBox="1"/>
          <p:nvPr/>
        </p:nvSpPr>
        <p:spPr>
          <a:xfrm>
            <a:off x="6037190" y="2734681"/>
            <a:ext cx="6535166" cy="970674"/>
          </a:xfrm>
          <a:prstGeom prst="rect">
            <a:avLst/>
          </a:prstGeom>
        </p:spPr>
        <p:txBody>
          <a:bodyPr lIns="0" tIns="0" rIns="0" bIns="0" rtlCol="0" anchor="t">
            <a:spAutoFit/>
          </a:bodyPr>
          <a:lstStyle/>
          <a:p>
            <a:pPr marL="0" lvl="0" indent="0" algn="ctr">
              <a:lnSpc>
                <a:spcPts val="7923"/>
              </a:lnSpc>
              <a:spcBef>
                <a:spcPct val="0"/>
              </a:spcBef>
            </a:pPr>
            <a:r>
              <a:rPr lang="en-US" sz="5659" b="1" spc="-260">
                <a:solidFill>
                  <a:srgbClr val="EBF5FE"/>
                </a:solidFill>
                <a:latin typeface="Garet Bold"/>
                <a:ea typeface="Garet Bold"/>
                <a:cs typeface="Garet Bold"/>
                <a:sym typeface="Garet Bold"/>
              </a:rPr>
              <a:t>ARSITEKTUR</a:t>
            </a:r>
          </a:p>
        </p:txBody>
      </p:sp>
      <p:sp>
        <p:nvSpPr>
          <p:cNvPr id="9" name="TextBox 9"/>
          <p:cNvSpPr txBox="1"/>
          <p:nvPr/>
        </p:nvSpPr>
        <p:spPr>
          <a:xfrm>
            <a:off x="2282165" y="967905"/>
            <a:ext cx="1559319" cy="300848"/>
          </a:xfrm>
          <a:prstGeom prst="rect">
            <a:avLst/>
          </a:prstGeom>
        </p:spPr>
        <p:txBody>
          <a:bodyPr lIns="0" tIns="0" rIns="0" bIns="0" rtlCol="0" anchor="t">
            <a:spAutoFit/>
          </a:bodyPr>
          <a:lstStyle/>
          <a:p>
            <a:pPr marL="0" lvl="0" indent="0" algn="l">
              <a:lnSpc>
                <a:spcPts val="2425"/>
              </a:lnSpc>
              <a:spcBef>
                <a:spcPct val="0"/>
              </a:spcBef>
            </a:pPr>
            <a:r>
              <a:rPr lang="en-US" sz="1732" spc="-79">
                <a:solidFill>
                  <a:srgbClr val="EBF5FE"/>
                </a:solidFill>
                <a:latin typeface="Garet"/>
                <a:ea typeface="Garet"/>
                <a:cs typeface="Garet"/>
                <a:sym typeface="Garet"/>
              </a:rPr>
              <a:t>Struktur Data</a:t>
            </a:r>
          </a:p>
        </p:txBody>
      </p:sp>
      <p:sp>
        <p:nvSpPr>
          <p:cNvPr id="10" name="TextBox 10"/>
          <p:cNvSpPr txBox="1"/>
          <p:nvPr/>
        </p:nvSpPr>
        <p:spPr>
          <a:xfrm>
            <a:off x="7725796" y="8854139"/>
            <a:ext cx="3303490" cy="302675"/>
          </a:xfrm>
          <a:prstGeom prst="rect">
            <a:avLst/>
          </a:prstGeom>
        </p:spPr>
        <p:txBody>
          <a:bodyPr lIns="0" tIns="0" rIns="0" bIns="0" rtlCol="0" anchor="t">
            <a:spAutoFit/>
          </a:bodyPr>
          <a:lstStyle/>
          <a:p>
            <a:pPr marL="0" lvl="0" indent="0" algn="l">
              <a:lnSpc>
                <a:spcPts val="2447"/>
              </a:lnSpc>
              <a:spcBef>
                <a:spcPct val="0"/>
              </a:spcBef>
            </a:pPr>
            <a:r>
              <a:rPr lang="en-US" sz="1747" b="1" spc="-80">
                <a:solidFill>
                  <a:srgbClr val="3C67BF"/>
                </a:solidFill>
                <a:latin typeface="Garet Bold"/>
                <a:ea typeface="Garet Bold"/>
                <a:cs typeface="Garet Bold"/>
                <a:sym typeface="Garet Bold"/>
              </a:rPr>
              <a:t>DSS Pemilihan Supplier - Graph</a:t>
            </a:r>
          </a:p>
        </p:txBody>
      </p:sp>
      <p:grpSp>
        <p:nvGrpSpPr>
          <p:cNvPr id="11" name="Group 11"/>
          <p:cNvGrpSpPr/>
          <p:nvPr/>
        </p:nvGrpSpPr>
        <p:grpSpPr>
          <a:xfrm>
            <a:off x="2548247" y="4253282"/>
            <a:ext cx="6389629" cy="771525"/>
            <a:chOff x="0" y="0"/>
            <a:chExt cx="3365731" cy="406400"/>
          </a:xfrm>
        </p:grpSpPr>
        <p:sp>
          <p:nvSpPr>
            <p:cNvPr id="12" name="Freeform 12"/>
            <p:cNvSpPr/>
            <p:nvPr/>
          </p:nvSpPr>
          <p:spPr>
            <a:xfrm>
              <a:off x="0" y="0"/>
              <a:ext cx="3365731"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sp>
          <p:nvSpPr>
            <p:cNvPr id="13" name="TextBox 13"/>
            <p:cNvSpPr txBox="1"/>
            <p:nvPr/>
          </p:nvSpPr>
          <p:spPr>
            <a:xfrm>
              <a:off x="0" y="-28575"/>
              <a:ext cx="3365731" cy="434975"/>
            </a:xfrm>
            <a:prstGeom prst="rect">
              <a:avLst/>
            </a:prstGeom>
          </p:spPr>
          <p:txBody>
            <a:bodyPr lIns="50800" tIns="50800" rIns="50800" bIns="50800" rtlCol="0" anchor="ctr"/>
            <a:lstStyle/>
            <a:p>
              <a:pPr marL="0" lvl="0" indent="0" algn="ctr">
                <a:lnSpc>
                  <a:spcPts val="2487"/>
                </a:lnSpc>
              </a:pPr>
              <a:endParaRPr/>
            </a:p>
          </p:txBody>
        </p:sp>
      </p:grpSp>
      <p:grpSp>
        <p:nvGrpSpPr>
          <p:cNvPr id="14" name="Group 14"/>
          <p:cNvGrpSpPr/>
          <p:nvPr/>
        </p:nvGrpSpPr>
        <p:grpSpPr>
          <a:xfrm>
            <a:off x="2548247" y="5262193"/>
            <a:ext cx="6389629" cy="771525"/>
            <a:chOff x="0" y="0"/>
            <a:chExt cx="3365731" cy="406400"/>
          </a:xfrm>
        </p:grpSpPr>
        <p:sp>
          <p:nvSpPr>
            <p:cNvPr id="15" name="Freeform 15"/>
            <p:cNvSpPr/>
            <p:nvPr/>
          </p:nvSpPr>
          <p:spPr>
            <a:xfrm>
              <a:off x="0" y="0"/>
              <a:ext cx="3365731"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sp>
          <p:nvSpPr>
            <p:cNvPr id="16" name="TextBox 16"/>
            <p:cNvSpPr txBox="1"/>
            <p:nvPr/>
          </p:nvSpPr>
          <p:spPr>
            <a:xfrm>
              <a:off x="0" y="-28575"/>
              <a:ext cx="3365731" cy="434975"/>
            </a:xfrm>
            <a:prstGeom prst="rect">
              <a:avLst/>
            </a:prstGeom>
          </p:spPr>
          <p:txBody>
            <a:bodyPr lIns="50800" tIns="50800" rIns="50800" bIns="50800" rtlCol="0" anchor="ctr"/>
            <a:lstStyle/>
            <a:p>
              <a:pPr marL="0" lvl="0" indent="0" algn="ctr">
                <a:lnSpc>
                  <a:spcPts val="2487"/>
                </a:lnSpc>
              </a:pPr>
              <a:endParaRPr/>
            </a:p>
          </p:txBody>
        </p:sp>
      </p:grpSp>
      <p:grpSp>
        <p:nvGrpSpPr>
          <p:cNvPr id="17" name="Group 17"/>
          <p:cNvGrpSpPr/>
          <p:nvPr/>
        </p:nvGrpSpPr>
        <p:grpSpPr>
          <a:xfrm>
            <a:off x="9377541" y="4253282"/>
            <a:ext cx="6389629" cy="771525"/>
            <a:chOff x="0" y="0"/>
            <a:chExt cx="3365731" cy="406400"/>
          </a:xfrm>
        </p:grpSpPr>
        <p:sp>
          <p:nvSpPr>
            <p:cNvPr id="18" name="Freeform 18"/>
            <p:cNvSpPr/>
            <p:nvPr/>
          </p:nvSpPr>
          <p:spPr>
            <a:xfrm>
              <a:off x="0" y="0"/>
              <a:ext cx="3365731"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sp>
          <p:nvSpPr>
            <p:cNvPr id="19" name="TextBox 19"/>
            <p:cNvSpPr txBox="1"/>
            <p:nvPr/>
          </p:nvSpPr>
          <p:spPr>
            <a:xfrm>
              <a:off x="0" y="-28575"/>
              <a:ext cx="3365731" cy="434975"/>
            </a:xfrm>
            <a:prstGeom prst="rect">
              <a:avLst/>
            </a:prstGeom>
          </p:spPr>
          <p:txBody>
            <a:bodyPr lIns="50800" tIns="50800" rIns="50800" bIns="50800" rtlCol="0" anchor="ctr"/>
            <a:lstStyle/>
            <a:p>
              <a:pPr marL="0" lvl="0" indent="0" algn="ctr">
                <a:lnSpc>
                  <a:spcPts val="2487"/>
                </a:lnSpc>
              </a:pPr>
              <a:endParaRPr/>
            </a:p>
          </p:txBody>
        </p:sp>
      </p:grpSp>
      <p:grpSp>
        <p:nvGrpSpPr>
          <p:cNvPr id="20" name="Group 20"/>
          <p:cNvGrpSpPr/>
          <p:nvPr/>
        </p:nvGrpSpPr>
        <p:grpSpPr>
          <a:xfrm>
            <a:off x="9377541" y="5262193"/>
            <a:ext cx="6389629" cy="771525"/>
            <a:chOff x="0" y="0"/>
            <a:chExt cx="3365731" cy="406400"/>
          </a:xfrm>
        </p:grpSpPr>
        <p:sp>
          <p:nvSpPr>
            <p:cNvPr id="21" name="Freeform 21"/>
            <p:cNvSpPr/>
            <p:nvPr/>
          </p:nvSpPr>
          <p:spPr>
            <a:xfrm>
              <a:off x="0" y="0"/>
              <a:ext cx="3365731"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sp>
          <p:nvSpPr>
            <p:cNvPr id="22" name="TextBox 22"/>
            <p:cNvSpPr txBox="1"/>
            <p:nvPr/>
          </p:nvSpPr>
          <p:spPr>
            <a:xfrm>
              <a:off x="0" y="-28575"/>
              <a:ext cx="3365731" cy="434975"/>
            </a:xfrm>
            <a:prstGeom prst="rect">
              <a:avLst/>
            </a:prstGeom>
          </p:spPr>
          <p:txBody>
            <a:bodyPr lIns="50800" tIns="50800" rIns="50800" bIns="50800" rtlCol="0" anchor="ctr"/>
            <a:lstStyle/>
            <a:p>
              <a:pPr marL="0" lvl="0" indent="0" algn="ctr">
                <a:lnSpc>
                  <a:spcPts val="2487"/>
                </a:lnSpc>
              </a:pPr>
              <a:endParaRPr/>
            </a:p>
          </p:txBody>
        </p:sp>
      </p:grpSp>
      <p:sp>
        <p:nvSpPr>
          <p:cNvPr id="23" name="TextBox 23"/>
          <p:cNvSpPr txBox="1"/>
          <p:nvPr/>
        </p:nvSpPr>
        <p:spPr>
          <a:xfrm>
            <a:off x="2581531" y="6348043"/>
            <a:ext cx="13294934" cy="1767278"/>
          </a:xfrm>
          <a:prstGeom prst="rect">
            <a:avLst/>
          </a:prstGeom>
        </p:spPr>
        <p:txBody>
          <a:bodyPr lIns="0" tIns="0" rIns="0" bIns="0" rtlCol="0" anchor="t">
            <a:spAutoFit/>
          </a:bodyPr>
          <a:lstStyle/>
          <a:p>
            <a:pPr marL="0" lvl="0" indent="0" algn="just">
              <a:lnSpc>
                <a:spcPts val="2340"/>
              </a:lnSpc>
              <a:spcBef>
                <a:spcPct val="0"/>
              </a:spcBef>
            </a:pPr>
            <a:r>
              <a:rPr lang="en-US" sz="1672" spc="-76">
                <a:solidFill>
                  <a:srgbClr val="EBF5FE"/>
                </a:solidFill>
                <a:latin typeface="Garet"/>
                <a:ea typeface="Garet"/>
                <a:cs typeface="Garet"/>
                <a:sym typeface="Garet"/>
              </a:rPr>
              <a:t>Proyek ini dibangun menggunakan Python sebagai bahasa pemrograman utama yang mendukung seluruh logika algoritma dan komputasi data. Streamlit digunakan sebagai framework antarmuka web interaktif yang memudahkan pengguna dalam mengoperasikan sistem DSS secara real-time. NetworkX berperan sebagai library utama untuk merepresentasikan struktur graph berbobot (Weighted Undirected Graph) dengan Adjacency List, sekaligus menjalankan algoritma Dijkstra untuk pencarian jalur terpendek dari Pabrik ke Supplier. Pandas digunakan untuk manajemen data kriteria supplier, normalisasi Min-Max, serta perhitungan skor WSM (Weighted Sum Model). Matplotlib diintegrasikan untuk visualisasi graf dan hasil analisis secara grafis.</a:t>
            </a:r>
          </a:p>
        </p:txBody>
      </p:sp>
      <p:sp>
        <p:nvSpPr>
          <p:cNvPr id="24" name="TextBox 24"/>
          <p:cNvSpPr txBox="1"/>
          <p:nvPr/>
        </p:nvSpPr>
        <p:spPr>
          <a:xfrm>
            <a:off x="3061824" y="4391715"/>
            <a:ext cx="4156113" cy="447065"/>
          </a:xfrm>
          <a:prstGeom prst="rect">
            <a:avLst/>
          </a:prstGeom>
        </p:spPr>
        <p:txBody>
          <a:bodyPr lIns="0" tIns="0" rIns="0" bIns="0" rtlCol="0" anchor="t">
            <a:spAutoFit/>
          </a:bodyPr>
          <a:lstStyle/>
          <a:p>
            <a:pPr marL="0" lvl="0" indent="0" algn="l">
              <a:lnSpc>
                <a:spcPts val="3708"/>
              </a:lnSpc>
              <a:spcBef>
                <a:spcPct val="0"/>
              </a:spcBef>
            </a:pPr>
            <a:r>
              <a:rPr lang="en-US" sz="2649" b="1" spc="-121">
                <a:solidFill>
                  <a:srgbClr val="EBF5FE"/>
                </a:solidFill>
                <a:latin typeface="Garet Bold"/>
                <a:ea typeface="Garet Bold"/>
                <a:cs typeface="Garet Bold"/>
                <a:sym typeface="Garet Bold"/>
              </a:rPr>
              <a:t>Python</a:t>
            </a:r>
          </a:p>
        </p:txBody>
      </p:sp>
      <p:grpSp>
        <p:nvGrpSpPr>
          <p:cNvPr id="25" name="Group 25"/>
          <p:cNvGrpSpPr/>
          <p:nvPr/>
        </p:nvGrpSpPr>
        <p:grpSpPr>
          <a:xfrm>
            <a:off x="7139915" y="4253282"/>
            <a:ext cx="1797961" cy="771525"/>
            <a:chOff x="0" y="0"/>
            <a:chExt cx="947074" cy="406400"/>
          </a:xfrm>
        </p:grpSpPr>
        <p:sp>
          <p:nvSpPr>
            <p:cNvPr id="26" name="Freeform 26"/>
            <p:cNvSpPr/>
            <p:nvPr/>
          </p:nvSpPr>
          <p:spPr>
            <a:xfrm>
              <a:off x="0" y="0"/>
              <a:ext cx="947074" cy="406400"/>
            </a:xfrm>
            <a:custGeom>
              <a:avLst/>
              <a:gdLst/>
              <a:ahLst/>
              <a:cxnLst/>
              <a:rect l="l" t="t" r="r" b="b"/>
              <a:pathLst>
                <a:path w="947074" h="406400">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1">
              <a:gsLst>
                <a:gs pos="0">
                  <a:srgbClr val="5284FF">
                    <a:alpha val="100000"/>
                  </a:srgbClr>
                </a:gs>
                <a:gs pos="100000">
                  <a:srgbClr val="000422">
                    <a:alpha val="100000"/>
                  </a:srgbClr>
                </a:gs>
              </a:gsLst>
              <a:lin ang="0"/>
            </a:gradFill>
            <a:ln w="47625" cap="sq">
              <a:solidFill>
                <a:srgbClr val="FFFFFF"/>
              </a:solidFill>
              <a:prstDash val="solid"/>
              <a:miter/>
            </a:ln>
          </p:spPr>
        </p:sp>
        <p:sp>
          <p:nvSpPr>
            <p:cNvPr id="27" name="TextBox 27"/>
            <p:cNvSpPr txBox="1"/>
            <p:nvPr/>
          </p:nvSpPr>
          <p:spPr>
            <a:xfrm>
              <a:off x="0" y="-28575"/>
              <a:ext cx="947074" cy="434975"/>
            </a:xfrm>
            <a:prstGeom prst="rect">
              <a:avLst/>
            </a:prstGeom>
          </p:spPr>
          <p:txBody>
            <a:bodyPr lIns="50800" tIns="50800" rIns="50800" bIns="50800" rtlCol="0" anchor="ctr"/>
            <a:lstStyle/>
            <a:p>
              <a:pPr marL="0" lvl="0" indent="0" algn="ctr">
                <a:lnSpc>
                  <a:spcPts val="2487"/>
                </a:lnSpc>
              </a:pPr>
              <a:endParaRPr/>
            </a:p>
          </p:txBody>
        </p:sp>
      </p:grpSp>
      <p:sp>
        <p:nvSpPr>
          <p:cNvPr id="28" name="TextBox 28"/>
          <p:cNvSpPr txBox="1"/>
          <p:nvPr/>
        </p:nvSpPr>
        <p:spPr>
          <a:xfrm>
            <a:off x="7593829" y="4391715"/>
            <a:ext cx="890134" cy="447065"/>
          </a:xfrm>
          <a:prstGeom prst="rect">
            <a:avLst/>
          </a:prstGeom>
        </p:spPr>
        <p:txBody>
          <a:bodyPr lIns="0" tIns="0" rIns="0" bIns="0" rtlCol="0" anchor="t">
            <a:spAutoFit/>
          </a:bodyPr>
          <a:lstStyle/>
          <a:p>
            <a:pPr marL="0" lvl="0" indent="0" algn="ctr">
              <a:lnSpc>
                <a:spcPts val="3708"/>
              </a:lnSpc>
              <a:spcBef>
                <a:spcPct val="0"/>
              </a:spcBef>
            </a:pPr>
            <a:endParaRPr/>
          </a:p>
        </p:txBody>
      </p:sp>
      <p:grpSp>
        <p:nvGrpSpPr>
          <p:cNvPr id="29" name="Group 29"/>
          <p:cNvGrpSpPr/>
          <p:nvPr/>
        </p:nvGrpSpPr>
        <p:grpSpPr>
          <a:xfrm>
            <a:off x="7139915" y="5262193"/>
            <a:ext cx="1797961" cy="771525"/>
            <a:chOff x="0" y="0"/>
            <a:chExt cx="947074" cy="406400"/>
          </a:xfrm>
        </p:grpSpPr>
        <p:sp>
          <p:nvSpPr>
            <p:cNvPr id="30" name="Freeform 30"/>
            <p:cNvSpPr/>
            <p:nvPr/>
          </p:nvSpPr>
          <p:spPr>
            <a:xfrm>
              <a:off x="0" y="0"/>
              <a:ext cx="947074" cy="406400"/>
            </a:xfrm>
            <a:custGeom>
              <a:avLst/>
              <a:gdLst/>
              <a:ahLst/>
              <a:cxnLst/>
              <a:rect l="l" t="t" r="r" b="b"/>
              <a:pathLst>
                <a:path w="947074" h="406400">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1">
              <a:gsLst>
                <a:gs pos="0">
                  <a:srgbClr val="5284FF">
                    <a:alpha val="100000"/>
                  </a:srgbClr>
                </a:gs>
                <a:gs pos="100000">
                  <a:srgbClr val="000422">
                    <a:alpha val="100000"/>
                  </a:srgbClr>
                </a:gs>
              </a:gsLst>
              <a:lin ang="0"/>
            </a:gradFill>
            <a:ln w="47625" cap="sq">
              <a:solidFill>
                <a:srgbClr val="FFFFFF"/>
              </a:solidFill>
              <a:prstDash val="solid"/>
              <a:miter/>
            </a:ln>
          </p:spPr>
        </p:sp>
        <p:sp>
          <p:nvSpPr>
            <p:cNvPr id="31" name="TextBox 31"/>
            <p:cNvSpPr txBox="1"/>
            <p:nvPr/>
          </p:nvSpPr>
          <p:spPr>
            <a:xfrm>
              <a:off x="0" y="-28575"/>
              <a:ext cx="947074" cy="434975"/>
            </a:xfrm>
            <a:prstGeom prst="rect">
              <a:avLst/>
            </a:prstGeom>
          </p:spPr>
          <p:txBody>
            <a:bodyPr lIns="50800" tIns="50800" rIns="50800" bIns="50800" rtlCol="0" anchor="ctr"/>
            <a:lstStyle/>
            <a:p>
              <a:pPr marL="0" lvl="0" indent="0" algn="ctr">
                <a:lnSpc>
                  <a:spcPts val="2487"/>
                </a:lnSpc>
              </a:pPr>
              <a:endParaRPr/>
            </a:p>
          </p:txBody>
        </p:sp>
      </p:grpSp>
      <p:sp>
        <p:nvSpPr>
          <p:cNvPr id="32" name="TextBox 32"/>
          <p:cNvSpPr txBox="1"/>
          <p:nvPr/>
        </p:nvSpPr>
        <p:spPr>
          <a:xfrm>
            <a:off x="7593829" y="5400625"/>
            <a:ext cx="890134" cy="447065"/>
          </a:xfrm>
          <a:prstGeom prst="rect">
            <a:avLst/>
          </a:prstGeom>
        </p:spPr>
        <p:txBody>
          <a:bodyPr lIns="0" tIns="0" rIns="0" bIns="0" rtlCol="0" anchor="t">
            <a:spAutoFit/>
          </a:bodyPr>
          <a:lstStyle/>
          <a:p>
            <a:pPr marL="0" lvl="0" indent="0" algn="ctr">
              <a:lnSpc>
                <a:spcPts val="3708"/>
              </a:lnSpc>
              <a:spcBef>
                <a:spcPct val="0"/>
              </a:spcBef>
            </a:pPr>
            <a:endParaRPr/>
          </a:p>
        </p:txBody>
      </p:sp>
      <p:grpSp>
        <p:nvGrpSpPr>
          <p:cNvPr id="33" name="Group 33"/>
          <p:cNvGrpSpPr/>
          <p:nvPr/>
        </p:nvGrpSpPr>
        <p:grpSpPr>
          <a:xfrm>
            <a:off x="13969209" y="4253282"/>
            <a:ext cx="1797961" cy="771525"/>
            <a:chOff x="0" y="0"/>
            <a:chExt cx="947074" cy="406400"/>
          </a:xfrm>
        </p:grpSpPr>
        <p:sp>
          <p:nvSpPr>
            <p:cNvPr id="34" name="Freeform 34"/>
            <p:cNvSpPr/>
            <p:nvPr/>
          </p:nvSpPr>
          <p:spPr>
            <a:xfrm>
              <a:off x="0" y="0"/>
              <a:ext cx="947074" cy="406400"/>
            </a:xfrm>
            <a:custGeom>
              <a:avLst/>
              <a:gdLst/>
              <a:ahLst/>
              <a:cxnLst/>
              <a:rect l="l" t="t" r="r" b="b"/>
              <a:pathLst>
                <a:path w="947074" h="406400">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1">
              <a:gsLst>
                <a:gs pos="0">
                  <a:srgbClr val="5284FF">
                    <a:alpha val="100000"/>
                  </a:srgbClr>
                </a:gs>
                <a:gs pos="100000">
                  <a:srgbClr val="000422">
                    <a:alpha val="100000"/>
                  </a:srgbClr>
                </a:gs>
              </a:gsLst>
              <a:lin ang="0"/>
            </a:gradFill>
            <a:ln w="47625" cap="sq">
              <a:solidFill>
                <a:srgbClr val="FFFFFF"/>
              </a:solidFill>
              <a:prstDash val="solid"/>
              <a:miter/>
            </a:ln>
          </p:spPr>
        </p:sp>
        <p:sp>
          <p:nvSpPr>
            <p:cNvPr id="35" name="TextBox 35"/>
            <p:cNvSpPr txBox="1"/>
            <p:nvPr/>
          </p:nvSpPr>
          <p:spPr>
            <a:xfrm>
              <a:off x="0" y="-28575"/>
              <a:ext cx="947074" cy="434975"/>
            </a:xfrm>
            <a:prstGeom prst="rect">
              <a:avLst/>
            </a:prstGeom>
          </p:spPr>
          <p:txBody>
            <a:bodyPr lIns="50800" tIns="50800" rIns="50800" bIns="50800" rtlCol="0" anchor="ctr"/>
            <a:lstStyle/>
            <a:p>
              <a:pPr marL="0" lvl="0" indent="0" algn="ctr">
                <a:lnSpc>
                  <a:spcPts val="2487"/>
                </a:lnSpc>
              </a:pPr>
              <a:endParaRPr/>
            </a:p>
          </p:txBody>
        </p:sp>
      </p:grpSp>
      <p:sp>
        <p:nvSpPr>
          <p:cNvPr id="36" name="TextBox 36"/>
          <p:cNvSpPr txBox="1"/>
          <p:nvPr/>
        </p:nvSpPr>
        <p:spPr>
          <a:xfrm>
            <a:off x="14423123" y="4391715"/>
            <a:ext cx="890134" cy="447065"/>
          </a:xfrm>
          <a:prstGeom prst="rect">
            <a:avLst/>
          </a:prstGeom>
        </p:spPr>
        <p:txBody>
          <a:bodyPr lIns="0" tIns="0" rIns="0" bIns="0" rtlCol="0" anchor="t">
            <a:spAutoFit/>
          </a:bodyPr>
          <a:lstStyle/>
          <a:p>
            <a:pPr marL="0" lvl="0" indent="0" algn="ctr">
              <a:lnSpc>
                <a:spcPts val="3708"/>
              </a:lnSpc>
              <a:spcBef>
                <a:spcPct val="0"/>
              </a:spcBef>
            </a:pPr>
            <a:endParaRPr/>
          </a:p>
        </p:txBody>
      </p:sp>
      <p:grpSp>
        <p:nvGrpSpPr>
          <p:cNvPr id="37" name="Group 37"/>
          <p:cNvGrpSpPr/>
          <p:nvPr/>
        </p:nvGrpSpPr>
        <p:grpSpPr>
          <a:xfrm>
            <a:off x="13969209" y="5262193"/>
            <a:ext cx="1797961" cy="771525"/>
            <a:chOff x="0" y="0"/>
            <a:chExt cx="947074" cy="406400"/>
          </a:xfrm>
        </p:grpSpPr>
        <p:sp>
          <p:nvSpPr>
            <p:cNvPr id="38" name="Freeform 38"/>
            <p:cNvSpPr/>
            <p:nvPr/>
          </p:nvSpPr>
          <p:spPr>
            <a:xfrm>
              <a:off x="0" y="0"/>
              <a:ext cx="947074" cy="406400"/>
            </a:xfrm>
            <a:custGeom>
              <a:avLst/>
              <a:gdLst/>
              <a:ahLst/>
              <a:cxnLst/>
              <a:rect l="l" t="t" r="r" b="b"/>
              <a:pathLst>
                <a:path w="947074" h="406400">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1">
              <a:gsLst>
                <a:gs pos="0">
                  <a:srgbClr val="5284FF">
                    <a:alpha val="100000"/>
                  </a:srgbClr>
                </a:gs>
                <a:gs pos="100000">
                  <a:srgbClr val="000422">
                    <a:alpha val="100000"/>
                  </a:srgbClr>
                </a:gs>
              </a:gsLst>
              <a:lin ang="0"/>
            </a:gradFill>
            <a:ln w="47625" cap="sq">
              <a:solidFill>
                <a:srgbClr val="FFFFFF"/>
              </a:solidFill>
              <a:prstDash val="solid"/>
              <a:miter/>
            </a:ln>
          </p:spPr>
        </p:sp>
        <p:sp>
          <p:nvSpPr>
            <p:cNvPr id="39" name="TextBox 39"/>
            <p:cNvSpPr txBox="1"/>
            <p:nvPr/>
          </p:nvSpPr>
          <p:spPr>
            <a:xfrm>
              <a:off x="0" y="-28575"/>
              <a:ext cx="947074" cy="434975"/>
            </a:xfrm>
            <a:prstGeom prst="rect">
              <a:avLst/>
            </a:prstGeom>
          </p:spPr>
          <p:txBody>
            <a:bodyPr lIns="50800" tIns="50800" rIns="50800" bIns="50800" rtlCol="0" anchor="ctr"/>
            <a:lstStyle/>
            <a:p>
              <a:pPr marL="0" lvl="0" indent="0" algn="ctr">
                <a:lnSpc>
                  <a:spcPts val="2487"/>
                </a:lnSpc>
              </a:pPr>
              <a:endParaRPr/>
            </a:p>
          </p:txBody>
        </p:sp>
      </p:grpSp>
      <p:sp>
        <p:nvSpPr>
          <p:cNvPr id="40" name="TextBox 40"/>
          <p:cNvSpPr txBox="1"/>
          <p:nvPr/>
        </p:nvSpPr>
        <p:spPr>
          <a:xfrm>
            <a:off x="14423123" y="5400625"/>
            <a:ext cx="890134" cy="447065"/>
          </a:xfrm>
          <a:prstGeom prst="rect">
            <a:avLst/>
          </a:prstGeom>
        </p:spPr>
        <p:txBody>
          <a:bodyPr lIns="0" tIns="0" rIns="0" bIns="0" rtlCol="0" anchor="t">
            <a:spAutoFit/>
          </a:bodyPr>
          <a:lstStyle/>
          <a:p>
            <a:pPr marL="0" lvl="0" indent="0" algn="ctr">
              <a:lnSpc>
                <a:spcPts val="3708"/>
              </a:lnSpc>
              <a:spcBef>
                <a:spcPct val="0"/>
              </a:spcBef>
            </a:pPr>
            <a:endParaRPr/>
          </a:p>
        </p:txBody>
      </p:sp>
      <p:sp>
        <p:nvSpPr>
          <p:cNvPr id="41" name="TextBox 41"/>
          <p:cNvSpPr txBox="1"/>
          <p:nvPr/>
        </p:nvSpPr>
        <p:spPr>
          <a:xfrm>
            <a:off x="3061824" y="5424857"/>
            <a:ext cx="4156113" cy="447065"/>
          </a:xfrm>
          <a:prstGeom prst="rect">
            <a:avLst/>
          </a:prstGeom>
        </p:spPr>
        <p:txBody>
          <a:bodyPr lIns="0" tIns="0" rIns="0" bIns="0" rtlCol="0" anchor="t">
            <a:spAutoFit/>
          </a:bodyPr>
          <a:lstStyle/>
          <a:p>
            <a:pPr marL="0" lvl="0" indent="0" algn="l">
              <a:lnSpc>
                <a:spcPts val="3708"/>
              </a:lnSpc>
              <a:spcBef>
                <a:spcPct val="0"/>
              </a:spcBef>
            </a:pPr>
            <a:r>
              <a:rPr lang="en-US" sz="2649" b="1" spc="-121">
                <a:solidFill>
                  <a:srgbClr val="EBF5FE"/>
                </a:solidFill>
                <a:latin typeface="Garet Bold"/>
                <a:ea typeface="Garet Bold"/>
                <a:cs typeface="Garet Bold"/>
                <a:sym typeface="Garet Bold"/>
              </a:rPr>
              <a:t>Streamlit</a:t>
            </a:r>
          </a:p>
        </p:txBody>
      </p:sp>
      <p:sp>
        <p:nvSpPr>
          <p:cNvPr id="42" name="TextBox 42"/>
          <p:cNvSpPr txBox="1"/>
          <p:nvPr/>
        </p:nvSpPr>
        <p:spPr>
          <a:xfrm>
            <a:off x="9919737" y="4391715"/>
            <a:ext cx="4156113" cy="447065"/>
          </a:xfrm>
          <a:prstGeom prst="rect">
            <a:avLst/>
          </a:prstGeom>
        </p:spPr>
        <p:txBody>
          <a:bodyPr lIns="0" tIns="0" rIns="0" bIns="0" rtlCol="0" anchor="t">
            <a:spAutoFit/>
          </a:bodyPr>
          <a:lstStyle/>
          <a:p>
            <a:pPr marL="0" lvl="0" indent="0" algn="l">
              <a:lnSpc>
                <a:spcPts val="3708"/>
              </a:lnSpc>
              <a:spcBef>
                <a:spcPct val="0"/>
              </a:spcBef>
            </a:pPr>
            <a:r>
              <a:rPr lang="en-US" sz="2649" b="1" spc="-121">
                <a:solidFill>
                  <a:srgbClr val="EBF5FE"/>
                </a:solidFill>
                <a:latin typeface="Garet Bold"/>
                <a:ea typeface="Garet Bold"/>
                <a:cs typeface="Garet Bold"/>
                <a:sym typeface="Garet Bold"/>
              </a:rPr>
              <a:t>NetworkX &amp; Matplotlib</a:t>
            </a:r>
          </a:p>
        </p:txBody>
      </p:sp>
      <p:sp>
        <p:nvSpPr>
          <p:cNvPr id="43" name="TextBox 43"/>
          <p:cNvSpPr txBox="1"/>
          <p:nvPr/>
        </p:nvSpPr>
        <p:spPr>
          <a:xfrm>
            <a:off x="9919737" y="5424857"/>
            <a:ext cx="4156113" cy="447065"/>
          </a:xfrm>
          <a:prstGeom prst="rect">
            <a:avLst/>
          </a:prstGeom>
        </p:spPr>
        <p:txBody>
          <a:bodyPr lIns="0" tIns="0" rIns="0" bIns="0" rtlCol="0" anchor="t">
            <a:spAutoFit/>
          </a:bodyPr>
          <a:lstStyle/>
          <a:p>
            <a:pPr marL="0" lvl="0" indent="0" algn="l">
              <a:lnSpc>
                <a:spcPts val="3708"/>
              </a:lnSpc>
              <a:spcBef>
                <a:spcPct val="0"/>
              </a:spcBef>
            </a:pPr>
            <a:r>
              <a:rPr lang="en-US" sz="2649" b="1" spc="-121">
                <a:solidFill>
                  <a:srgbClr val="EBF5FE"/>
                </a:solidFill>
                <a:latin typeface="Garet Bold"/>
                <a:ea typeface="Garet Bold"/>
                <a:cs typeface="Garet Bold"/>
                <a:sym typeface="Garet Bold"/>
              </a:rPr>
              <a:t>Pandas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5284FF">
                <a:alpha val="100000"/>
              </a:srgbClr>
            </a:gs>
            <a:gs pos="100000">
              <a:srgbClr val="000422">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10517729">
            <a:off x="-2903692" y="-84714"/>
            <a:ext cx="10371714" cy="1037171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FCDFF">
                    <a:alpha val="0"/>
                  </a:srgbClr>
                </a:gs>
                <a:gs pos="100000">
                  <a:srgbClr val="3964CD">
                    <a:alpha val="100000"/>
                  </a:srgbClr>
                </a:gs>
              </a:gsLst>
              <a:lin ang="0"/>
            </a:gradFill>
          </p:spPr>
        </p:sp>
        <p:sp>
          <p:nvSpPr>
            <p:cNvPr id="4" name="TextBox 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1727020" y="963351"/>
            <a:ext cx="352190" cy="352190"/>
          </a:xfrm>
          <a:custGeom>
            <a:avLst/>
            <a:gdLst/>
            <a:ahLst/>
            <a:cxnLst/>
            <a:rect l="l" t="t" r="r" b="b"/>
            <a:pathLst>
              <a:path w="352190" h="352190">
                <a:moveTo>
                  <a:pt x="0" y="0"/>
                </a:moveTo>
                <a:lnTo>
                  <a:pt x="352190" y="0"/>
                </a:lnTo>
                <a:lnTo>
                  <a:pt x="352190" y="352190"/>
                </a:lnTo>
                <a:lnTo>
                  <a:pt x="0" y="35219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6784291" y="901942"/>
            <a:ext cx="475009" cy="475009"/>
          </a:xfrm>
          <a:custGeom>
            <a:avLst/>
            <a:gdLst/>
            <a:ahLst/>
            <a:cxnLst/>
            <a:rect l="l" t="t" r="r" b="b"/>
            <a:pathLst>
              <a:path w="475009" h="475009">
                <a:moveTo>
                  <a:pt x="0" y="0"/>
                </a:moveTo>
                <a:lnTo>
                  <a:pt x="475009" y="0"/>
                </a:lnTo>
                <a:lnTo>
                  <a:pt x="475009" y="475009"/>
                </a:lnTo>
                <a:lnTo>
                  <a:pt x="0" y="4750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727020" y="8790012"/>
            <a:ext cx="4599258" cy="468288"/>
          </a:xfrm>
          <a:custGeom>
            <a:avLst/>
            <a:gdLst/>
            <a:ahLst/>
            <a:cxnLst/>
            <a:rect l="l" t="t" r="r" b="b"/>
            <a:pathLst>
              <a:path w="4599258" h="468288">
                <a:moveTo>
                  <a:pt x="0" y="0"/>
                </a:moveTo>
                <a:lnTo>
                  <a:pt x="4599258" y="0"/>
                </a:lnTo>
                <a:lnTo>
                  <a:pt x="4599258" y="468288"/>
                </a:lnTo>
                <a:lnTo>
                  <a:pt x="0" y="46828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1192058" y="1780729"/>
            <a:ext cx="6264426" cy="6193059"/>
          </a:xfrm>
          <a:custGeom>
            <a:avLst/>
            <a:gdLst/>
            <a:ahLst/>
            <a:cxnLst/>
            <a:rect l="l" t="t" r="r" b="b"/>
            <a:pathLst>
              <a:path w="6264426" h="6193059">
                <a:moveTo>
                  <a:pt x="0" y="0"/>
                </a:moveTo>
                <a:lnTo>
                  <a:pt x="6264425" y="0"/>
                </a:lnTo>
                <a:lnTo>
                  <a:pt x="6264425" y="6193058"/>
                </a:lnTo>
                <a:lnTo>
                  <a:pt x="0" y="6193058"/>
                </a:lnTo>
                <a:lnTo>
                  <a:pt x="0" y="0"/>
                </a:lnTo>
                <a:close/>
              </a:path>
            </a:pathLst>
          </a:custGeom>
          <a:blipFill>
            <a:blip r:embed="rId8"/>
            <a:stretch>
              <a:fillRect/>
            </a:stretch>
          </a:blipFill>
        </p:spPr>
      </p:sp>
      <p:sp>
        <p:nvSpPr>
          <p:cNvPr id="9" name="Freeform 9"/>
          <p:cNvSpPr/>
          <p:nvPr/>
        </p:nvSpPr>
        <p:spPr>
          <a:xfrm>
            <a:off x="1358349" y="3470294"/>
            <a:ext cx="4242636" cy="3970017"/>
          </a:xfrm>
          <a:custGeom>
            <a:avLst/>
            <a:gdLst/>
            <a:ahLst/>
            <a:cxnLst/>
            <a:rect l="l" t="t" r="r" b="b"/>
            <a:pathLst>
              <a:path w="4242636" h="3970017">
                <a:moveTo>
                  <a:pt x="0" y="0"/>
                </a:moveTo>
                <a:lnTo>
                  <a:pt x="4242636" y="0"/>
                </a:lnTo>
                <a:lnTo>
                  <a:pt x="4242636" y="3970017"/>
                </a:lnTo>
                <a:lnTo>
                  <a:pt x="0" y="3970017"/>
                </a:lnTo>
                <a:lnTo>
                  <a:pt x="0" y="0"/>
                </a:lnTo>
                <a:close/>
              </a:path>
            </a:pathLst>
          </a:custGeom>
          <a:blipFill>
            <a:blip r:embed="rId9"/>
            <a:stretch>
              <a:fillRect/>
            </a:stretch>
          </a:blipFill>
        </p:spPr>
      </p:sp>
      <p:grpSp>
        <p:nvGrpSpPr>
          <p:cNvPr id="10" name="Group 10"/>
          <p:cNvGrpSpPr/>
          <p:nvPr/>
        </p:nvGrpSpPr>
        <p:grpSpPr>
          <a:xfrm>
            <a:off x="8194870" y="4697604"/>
            <a:ext cx="6389629" cy="771525"/>
            <a:chOff x="0" y="0"/>
            <a:chExt cx="3365731" cy="406400"/>
          </a:xfrm>
        </p:grpSpPr>
        <p:sp>
          <p:nvSpPr>
            <p:cNvPr id="11" name="Freeform 11"/>
            <p:cNvSpPr/>
            <p:nvPr/>
          </p:nvSpPr>
          <p:spPr>
            <a:xfrm>
              <a:off x="0" y="0"/>
              <a:ext cx="3365731"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sp>
          <p:nvSpPr>
            <p:cNvPr id="12" name="TextBox 12"/>
            <p:cNvSpPr txBox="1"/>
            <p:nvPr/>
          </p:nvSpPr>
          <p:spPr>
            <a:xfrm>
              <a:off x="0" y="-28575"/>
              <a:ext cx="3365731" cy="434975"/>
            </a:xfrm>
            <a:prstGeom prst="rect">
              <a:avLst/>
            </a:prstGeom>
          </p:spPr>
          <p:txBody>
            <a:bodyPr lIns="50800" tIns="50800" rIns="50800" bIns="50800" rtlCol="0" anchor="ctr"/>
            <a:lstStyle/>
            <a:p>
              <a:pPr marL="0" lvl="0" indent="0" algn="ctr">
                <a:lnSpc>
                  <a:spcPts val="2487"/>
                </a:lnSpc>
              </a:pPr>
              <a:endParaRPr/>
            </a:p>
          </p:txBody>
        </p:sp>
      </p:grpSp>
      <p:sp>
        <p:nvSpPr>
          <p:cNvPr id="13" name="TextBox 13"/>
          <p:cNvSpPr txBox="1"/>
          <p:nvPr/>
        </p:nvSpPr>
        <p:spPr>
          <a:xfrm>
            <a:off x="2282165" y="977430"/>
            <a:ext cx="1559319" cy="238547"/>
          </a:xfrm>
          <a:prstGeom prst="rect">
            <a:avLst/>
          </a:prstGeom>
        </p:spPr>
        <p:txBody>
          <a:bodyPr lIns="0" tIns="0" rIns="0" bIns="0" rtlCol="0" anchor="t">
            <a:spAutoFit/>
          </a:bodyPr>
          <a:lstStyle/>
          <a:p>
            <a:pPr marL="0" lvl="0" indent="0" algn="l">
              <a:lnSpc>
                <a:spcPts val="1934"/>
              </a:lnSpc>
              <a:spcBef>
                <a:spcPct val="0"/>
              </a:spcBef>
            </a:pPr>
            <a:r>
              <a:rPr lang="en-US" sz="1381" spc="-63">
                <a:solidFill>
                  <a:srgbClr val="EBF5FE"/>
                </a:solidFill>
                <a:latin typeface="Garet"/>
                <a:ea typeface="Garet"/>
                <a:cs typeface="Garet"/>
                <a:sym typeface="Garet"/>
              </a:rPr>
              <a:t>Struktur Data</a:t>
            </a:r>
          </a:p>
        </p:txBody>
      </p:sp>
      <p:sp>
        <p:nvSpPr>
          <p:cNvPr id="14" name="TextBox 14"/>
          <p:cNvSpPr txBox="1"/>
          <p:nvPr/>
        </p:nvSpPr>
        <p:spPr>
          <a:xfrm>
            <a:off x="2534210" y="8863664"/>
            <a:ext cx="3303490" cy="238750"/>
          </a:xfrm>
          <a:prstGeom prst="rect">
            <a:avLst/>
          </a:prstGeom>
        </p:spPr>
        <p:txBody>
          <a:bodyPr lIns="0" tIns="0" rIns="0" bIns="0" rtlCol="0" anchor="t">
            <a:spAutoFit/>
          </a:bodyPr>
          <a:lstStyle/>
          <a:p>
            <a:pPr marL="0" lvl="0" indent="0" algn="l">
              <a:lnSpc>
                <a:spcPts val="1952"/>
              </a:lnSpc>
              <a:spcBef>
                <a:spcPct val="0"/>
              </a:spcBef>
            </a:pPr>
            <a:r>
              <a:rPr lang="en-US" sz="1394" b="1" spc="-64">
                <a:solidFill>
                  <a:srgbClr val="3C67BF"/>
                </a:solidFill>
                <a:latin typeface="Garet Bold"/>
                <a:ea typeface="Garet Bold"/>
                <a:cs typeface="Garet Bold"/>
                <a:sym typeface="Garet Bold"/>
              </a:rPr>
              <a:t>DSS Pemilihan Supplier Berbasis Graph</a:t>
            </a:r>
          </a:p>
        </p:txBody>
      </p:sp>
      <p:sp>
        <p:nvSpPr>
          <p:cNvPr id="15" name="TextBox 15"/>
          <p:cNvSpPr txBox="1"/>
          <p:nvPr/>
        </p:nvSpPr>
        <p:spPr>
          <a:xfrm>
            <a:off x="16070360" y="8863664"/>
            <a:ext cx="1188940" cy="240806"/>
          </a:xfrm>
          <a:prstGeom prst="rect">
            <a:avLst/>
          </a:prstGeom>
        </p:spPr>
        <p:txBody>
          <a:bodyPr lIns="0" tIns="0" rIns="0" bIns="0" rtlCol="0" anchor="t">
            <a:spAutoFit/>
          </a:bodyPr>
          <a:lstStyle/>
          <a:p>
            <a:pPr marL="0" lvl="0" indent="0" algn="l">
              <a:lnSpc>
                <a:spcPts val="1952"/>
              </a:lnSpc>
              <a:spcBef>
                <a:spcPct val="0"/>
              </a:spcBef>
            </a:pPr>
            <a:r>
              <a:rPr lang="en-US" sz="1394" spc="-64">
                <a:solidFill>
                  <a:srgbClr val="EBF5FE"/>
                </a:solidFill>
                <a:latin typeface="Garet"/>
                <a:ea typeface="Garet"/>
                <a:cs typeface="Garet"/>
                <a:sym typeface="Garet"/>
              </a:rPr>
              <a:t>page 004</a:t>
            </a:r>
          </a:p>
        </p:txBody>
      </p:sp>
      <p:sp>
        <p:nvSpPr>
          <p:cNvPr id="16" name="TextBox 16"/>
          <p:cNvSpPr txBox="1"/>
          <p:nvPr/>
        </p:nvSpPr>
        <p:spPr>
          <a:xfrm>
            <a:off x="8194870" y="2021366"/>
            <a:ext cx="5620038" cy="937295"/>
          </a:xfrm>
          <a:prstGeom prst="rect">
            <a:avLst/>
          </a:prstGeom>
        </p:spPr>
        <p:txBody>
          <a:bodyPr lIns="0" tIns="0" rIns="0" bIns="0" rtlCol="0" anchor="t">
            <a:spAutoFit/>
          </a:bodyPr>
          <a:lstStyle/>
          <a:p>
            <a:pPr marL="0" lvl="0" indent="0" algn="l">
              <a:lnSpc>
                <a:spcPts val="7688"/>
              </a:lnSpc>
              <a:spcBef>
                <a:spcPct val="0"/>
              </a:spcBef>
            </a:pPr>
            <a:r>
              <a:rPr lang="en-US" sz="5491" spc="-252">
                <a:solidFill>
                  <a:srgbClr val="EBF5FE"/>
                </a:solidFill>
                <a:latin typeface="Garet"/>
                <a:ea typeface="Garet"/>
                <a:cs typeface="Garet"/>
                <a:sym typeface="Garet"/>
              </a:rPr>
              <a:t>KRITERIA</a:t>
            </a:r>
          </a:p>
        </p:txBody>
      </p:sp>
      <p:sp>
        <p:nvSpPr>
          <p:cNvPr id="17" name="TextBox 17"/>
          <p:cNvSpPr txBox="1"/>
          <p:nvPr/>
        </p:nvSpPr>
        <p:spPr>
          <a:xfrm>
            <a:off x="8194870" y="2942144"/>
            <a:ext cx="8002468" cy="937295"/>
          </a:xfrm>
          <a:prstGeom prst="rect">
            <a:avLst/>
          </a:prstGeom>
        </p:spPr>
        <p:txBody>
          <a:bodyPr lIns="0" tIns="0" rIns="0" bIns="0" rtlCol="0" anchor="t">
            <a:spAutoFit/>
          </a:bodyPr>
          <a:lstStyle/>
          <a:p>
            <a:pPr marL="0" lvl="0" indent="0" algn="l">
              <a:lnSpc>
                <a:spcPts val="7688"/>
              </a:lnSpc>
              <a:spcBef>
                <a:spcPct val="0"/>
              </a:spcBef>
            </a:pPr>
            <a:r>
              <a:rPr lang="en-US" sz="5491" b="1" spc="-252">
                <a:solidFill>
                  <a:srgbClr val="EBF5FE"/>
                </a:solidFill>
                <a:latin typeface="Garet Bold"/>
                <a:ea typeface="Garet Bold"/>
                <a:cs typeface="Garet Bold"/>
                <a:sym typeface="Garet Bold"/>
              </a:rPr>
              <a:t>NORMALISASI MIN-MAX</a:t>
            </a:r>
          </a:p>
        </p:txBody>
      </p:sp>
      <p:grpSp>
        <p:nvGrpSpPr>
          <p:cNvPr id="18" name="Group 18"/>
          <p:cNvGrpSpPr/>
          <p:nvPr/>
        </p:nvGrpSpPr>
        <p:grpSpPr>
          <a:xfrm>
            <a:off x="8194870" y="5706515"/>
            <a:ext cx="6389629" cy="771525"/>
            <a:chOff x="0" y="0"/>
            <a:chExt cx="3365731" cy="406400"/>
          </a:xfrm>
        </p:grpSpPr>
        <p:sp>
          <p:nvSpPr>
            <p:cNvPr id="19" name="Freeform 19"/>
            <p:cNvSpPr/>
            <p:nvPr/>
          </p:nvSpPr>
          <p:spPr>
            <a:xfrm>
              <a:off x="0" y="0"/>
              <a:ext cx="3365731"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sp>
          <p:nvSpPr>
            <p:cNvPr id="20" name="TextBox 20"/>
            <p:cNvSpPr txBox="1"/>
            <p:nvPr/>
          </p:nvSpPr>
          <p:spPr>
            <a:xfrm>
              <a:off x="0" y="-28575"/>
              <a:ext cx="3365731" cy="434975"/>
            </a:xfrm>
            <a:prstGeom prst="rect">
              <a:avLst/>
            </a:prstGeom>
          </p:spPr>
          <p:txBody>
            <a:bodyPr lIns="50800" tIns="50800" rIns="50800" bIns="50800" rtlCol="0" anchor="ctr"/>
            <a:lstStyle/>
            <a:p>
              <a:pPr marL="0" lvl="0" indent="0" algn="ctr">
                <a:lnSpc>
                  <a:spcPts val="2487"/>
                </a:lnSpc>
              </a:pPr>
              <a:endParaRPr/>
            </a:p>
          </p:txBody>
        </p:sp>
      </p:grpSp>
      <p:grpSp>
        <p:nvGrpSpPr>
          <p:cNvPr id="21" name="Group 21"/>
          <p:cNvGrpSpPr/>
          <p:nvPr/>
        </p:nvGrpSpPr>
        <p:grpSpPr>
          <a:xfrm>
            <a:off x="8194870" y="6715425"/>
            <a:ext cx="6389629" cy="771525"/>
            <a:chOff x="0" y="0"/>
            <a:chExt cx="3365731" cy="406400"/>
          </a:xfrm>
        </p:grpSpPr>
        <p:sp>
          <p:nvSpPr>
            <p:cNvPr id="22" name="Freeform 22"/>
            <p:cNvSpPr/>
            <p:nvPr/>
          </p:nvSpPr>
          <p:spPr>
            <a:xfrm>
              <a:off x="0" y="0"/>
              <a:ext cx="3365731"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sp>
          <p:nvSpPr>
            <p:cNvPr id="23" name="TextBox 23"/>
            <p:cNvSpPr txBox="1"/>
            <p:nvPr/>
          </p:nvSpPr>
          <p:spPr>
            <a:xfrm>
              <a:off x="0" y="-28575"/>
              <a:ext cx="3365731" cy="434975"/>
            </a:xfrm>
            <a:prstGeom prst="rect">
              <a:avLst/>
            </a:prstGeom>
          </p:spPr>
          <p:txBody>
            <a:bodyPr lIns="50800" tIns="50800" rIns="50800" bIns="50800" rtlCol="0" anchor="ctr"/>
            <a:lstStyle/>
            <a:p>
              <a:pPr marL="0" lvl="0" indent="0" algn="ctr">
                <a:lnSpc>
                  <a:spcPts val="2487"/>
                </a:lnSpc>
              </a:pPr>
              <a:endParaRPr/>
            </a:p>
          </p:txBody>
        </p:sp>
      </p:grpSp>
      <p:grpSp>
        <p:nvGrpSpPr>
          <p:cNvPr id="24" name="Group 24"/>
          <p:cNvGrpSpPr/>
          <p:nvPr/>
        </p:nvGrpSpPr>
        <p:grpSpPr>
          <a:xfrm>
            <a:off x="8194870" y="7724335"/>
            <a:ext cx="6389629" cy="771525"/>
            <a:chOff x="0" y="0"/>
            <a:chExt cx="3365731" cy="406400"/>
          </a:xfrm>
        </p:grpSpPr>
        <p:sp>
          <p:nvSpPr>
            <p:cNvPr id="25" name="Freeform 25"/>
            <p:cNvSpPr/>
            <p:nvPr/>
          </p:nvSpPr>
          <p:spPr>
            <a:xfrm>
              <a:off x="0" y="0"/>
              <a:ext cx="3365731"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sp>
          <p:nvSpPr>
            <p:cNvPr id="26" name="TextBox 26"/>
            <p:cNvSpPr txBox="1"/>
            <p:nvPr/>
          </p:nvSpPr>
          <p:spPr>
            <a:xfrm>
              <a:off x="0" y="-28575"/>
              <a:ext cx="3365731" cy="434975"/>
            </a:xfrm>
            <a:prstGeom prst="rect">
              <a:avLst/>
            </a:prstGeom>
          </p:spPr>
          <p:txBody>
            <a:bodyPr lIns="50800" tIns="50800" rIns="50800" bIns="50800" rtlCol="0" anchor="ctr"/>
            <a:lstStyle/>
            <a:p>
              <a:pPr marL="0" lvl="0" indent="0" algn="ctr">
                <a:lnSpc>
                  <a:spcPts val="2487"/>
                </a:lnSpc>
              </a:pPr>
              <a:endParaRPr/>
            </a:p>
          </p:txBody>
        </p:sp>
      </p:grpSp>
      <p:sp>
        <p:nvSpPr>
          <p:cNvPr id="27" name="TextBox 27"/>
          <p:cNvSpPr txBox="1"/>
          <p:nvPr/>
        </p:nvSpPr>
        <p:spPr>
          <a:xfrm>
            <a:off x="8754640" y="4834945"/>
            <a:ext cx="3272563" cy="447065"/>
          </a:xfrm>
          <a:prstGeom prst="rect">
            <a:avLst/>
          </a:prstGeom>
        </p:spPr>
        <p:txBody>
          <a:bodyPr lIns="0" tIns="0" rIns="0" bIns="0" rtlCol="0" anchor="t">
            <a:spAutoFit/>
          </a:bodyPr>
          <a:lstStyle/>
          <a:p>
            <a:pPr marL="0" lvl="0" indent="0" algn="l">
              <a:lnSpc>
                <a:spcPts val="3708"/>
              </a:lnSpc>
              <a:spcBef>
                <a:spcPct val="0"/>
              </a:spcBef>
            </a:pPr>
            <a:r>
              <a:rPr lang="en-US" sz="2649" b="1" spc="-121">
                <a:solidFill>
                  <a:srgbClr val="EBF5FE"/>
                </a:solidFill>
                <a:latin typeface="Garet Bold"/>
                <a:ea typeface="Garet Bold"/>
                <a:cs typeface="Garet Bold"/>
                <a:sym typeface="Garet Bold"/>
              </a:rPr>
              <a:t>Harga (Cost)</a:t>
            </a:r>
          </a:p>
        </p:txBody>
      </p:sp>
      <p:sp>
        <p:nvSpPr>
          <p:cNvPr id="28" name="TextBox 28"/>
          <p:cNvSpPr txBox="1"/>
          <p:nvPr/>
        </p:nvSpPr>
        <p:spPr>
          <a:xfrm>
            <a:off x="8754640" y="5844947"/>
            <a:ext cx="3272563" cy="447065"/>
          </a:xfrm>
          <a:prstGeom prst="rect">
            <a:avLst/>
          </a:prstGeom>
        </p:spPr>
        <p:txBody>
          <a:bodyPr lIns="0" tIns="0" rIns="0" bIns="0" rtlCol="0" anchor="t">
            <a:spAutoFit/>
          </a:bodyPr>
          <a:lstStyle/>
          <a:p>
            <a:pPr marL="0" lvl="0" indent="0" algn="l">
              <a:lnSpc>
                <a:spcPts val="3708"/>
              </a:lnSpc>
              <a:spcBef>
                <a:spcPct val="0"/>
              </a:spcBef>
            </a:pPr>
            <a:r>
              <a:rPr lang="en-US" sz="2649" b="1" spc="-121">
                <a:solidFill>
                  <a:srgbClr val="EBF5FE"/>
                </a:solidFill>
                <a:latin typeface="Garet Bold"/>
                <a:ea typeface="Garet Bold"/>
                <a:cs typeface="Garet Bold"/>
                <a:sym typeface="Garet Bold"/>
              </a:rPr>
              <a:t>Jarak (Cost)</a:t>
            </a:r>
          </a:p>
        </p:txBody>
      </p:sp>
      <p:sp>
        <p:nvSpPr>
          <p:cNvPr id="29" name="TextBox 29"/>
          <p:cNvSpPr txBox="1"/>
          <p:nvPr/>
        </p:nvSpPr>
        <p:spPr>
          <a:xfrm>
            <a:off x="8754640" y="6859040"/>
            <a:ext cx="3272563" cy="447065"/>
          </a:xfrm>
          <a:prstGeom prst="rect">
            <a:avLst/>
          </a:prstGeom>
        </p:spPr>
        <p:txBody>
          <a:bodyPr lIns="0" tIns="0" rIns="0" bIns="0" rtlCol="0" anchor="t">
            <a:spAutoFit/>
          </a:bodyPr>
          <a:lstStyle/>
          <a:p>
            <a:pPr marL="0" lvl="0" indent="0" algn="l">
              <a:lnSpc>
                <a:spcPts val="3708"/>
              </a:lnSpc>
              <a:spcBef>
                <a:spcPct val="0"/>
              </a:spcBef>
            </a:pPr>
            <a:r>
              <a:rPr lang="en-US" sz="2649" b="1" spc="-121">
                <a:solidFill>
                  <a:srgbClr val="EBF5FE"/>
                </a:solidFill>
                <a:latin typeface="Garet Bold"/>
                <a:ea typeface="Garet Bold"/>
                <a:cs typeface="Garet Bold"/>
                <a:sym typeface="Garet Bold"/>
              </a:rPr>
              <a:t>Kualitas (Benefit)</a:t>
            </a:r>
          </a:p>
        </p:txBody>
      </p:sp>
      <p:sp>
        <p:nvSpPr>
          <p:cNvPr id="30" name="TextBox 30"/>
          <p:cNvSpPr txBox="1"/>
          <p:nvPr/>
        </p:nvSpPr>
        <p:spPr>
          <a:xfrm>
            <a:off x="8754640" y="7853093"/>
            <a:ext cx="3651228" cy="447065"/>
          </a:xfrm>
          <a:prstGeom prst="rect">
            <a:avLst/>
          </a:prstGeom>
        </p:spPr>
        <p:txBody>
          <a:bodyPr lIns="0" tIns="0" rIns="0" bIns="0" rtlCol="0" anchor="t">
            <a:spAutoFit/>
          </a:bodyPr>
          <a:lstStyle/>
          <a:p>
            <a:pPr marL="0" lvl="0" indent="0" algn="l">
              <a:lnSpc>
                <a:spcPts val="3708"/>
              </a:lnSpc>
              <a:spcBef>
                <a:spcPct val="0"/>
              </a:spcBef>
            </a:pPr>
            <a:r>
              <a:rPr lang="en-US" sz="2649" b="1" spc="-121">
                <a:solidFill>
                  <a:srgbClr val="EBF5FE"/>
                </a:solidFill>
                <a:latin typeface="Garet Bold"/>
                <a:ea typeface="Garet Bold"/>
                <a:cs typeface="Garet Bold"/>
                <a:sym typeface="Garet Bold"/>
              </a:rPr>
              <a:t>Waktu Kirim (Cost)</a:t>
            </a:r>
          </a:p>
        </p:txBody>
      </p:sp>
      <p:grpSp>
        <p:nvGrpSpPr>
          <p:cNvPr id="31" name="Group 31"/>
          <p:cNvGrpSpPr/>
          <p:nvPr/>
        </p:nvGrpSpPr>
        <p:grpSpPr>
          <a:xfrm>
            <a:off x="12786539" y="4696513"/>
            <a:ext cx="1797961" cy="771525"/>
            <a:chOff x="0" y="0"/>
            <a:chExt cx="947074" cy="406400"/>
          </a:xfrm>
        </p:grpSpPr>
        <p:sp>
          <p:nvSpPr>
            <p:cNvPr id="32" name="Freeform 32"/>
            <p:cNvSpPr/>
            <p:nvPr/>
          </p:nvSpPr>
          <p:spPr>
            <a:xfrm>
              <a:off x="0" y="0"/>
              <a:ext cx="947074" cy="406400"/>
            </a:xfrm>
            <a:custGeom>
              <a:avLst/>
              <a:gdLst/>
              <a:ahLst/>
              <a:cxnLst/>
              <a:rect l="l" t="t" r="r" b="b"/>
              <a:pathLst>
                <a:path w="947074" h="406400">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1">
              <a:gsLst>
                <a:gs pos="0">
                  <a:srgbClr val="5284FF">
                    <a:alpha val="100000"/>
                  </a:srgbClr>
                </a:gs>
                <a:gs pos="100000">
                  <a:srgbClr val="000422">
                    <a:alpha val="100000"/>
                  </a:srgbClr>
                </a:gs>
              </a:gsLst>
              <a:lin ang="0"/>
            </a:gradFill>
            <a:ln w="47625" cap="sq">
              <a:solidFill>
                <a:srgbClr val="FFFFFF"/>
              </a:solidFill>
              <a:prstDash val="solid"/>
              <a:miter/>
            </a:ln>
          </p:spPr>
        </p:sp>
        <p:sp>
          <p:nvSpPr>
            <p:cNvPr id="33" name="TextBox 33"/>
            <p:cNvSpPr txBox="1"/>
            <p:nvPr/>
          </p:nvSpPr>
          <p:spPr>
            <a:xfrm>
              <a:off x="0" y="-28575"/>
              <a:ext cx="947074" cy="434975"/>
            </a:xfrm>
            <a:prstGeom prst="rect">
              <a:avLst/>
            </a:prstGeom>
          </p:spPr>
          <p:txBody>
            <a:bodyPr lIns="50800" tIns="50800" rIns="50800" bIns="50800" rtlCol="0" anchor="ctr"/>
            <a:lstStyle/>
            <a:p>
              <a:pPr marL="0" lvl="0" indent="0" algn="ctr">
                <a:lnSpc>
                  <a:spcPts val="2487"/>
                </a:lnSpc>
              </a:pPr>
              <a:endParaRPr/>
            </a:p>
          </p:txBody>
        </p:sp>
      </p:grpSp>
      <p:grpSp>
        <p:nvGrpSpPr>
          <p:cNvPr id="34" name="Group 34"/>
          <p:cNvGrpSpPr/>
          <p:nvPr/>
        </p:nvGrpSpPr>
        <p:grpSpPr>
          <a:xfrm>
            <a:off x="12786539" y="5705775"/>
            <a:ext cx="1797961" cy="771525"/>
            <a:chOff x="0" y="0"/>
            <a:chExt cx="947074" cy="406400"/>
          </a:xfrm>
        </p:grpSpPr>
        <p:sp>
          <p:nvSpPr>
            <p:cNvPr id="35" name="Freeform 35"/>
            <p:cNvSpPr/>
            <p:nvPr/>
          </p:nvSpPr>
          <p:spPr>
            <a:xfrm>
              <a:off x="0" y="0"/>
              <a:ext cx="947074" cy="406400"/>
            </a:xfrm>
            <a:custGeom>
              <a:avLst/>
              <a:gdLst/>
              <a:ahLst/>
              <a:cxnLst/>
              <a:rect l="l" t="t" r="r" b="b"/>
              <a:pathLst>
                <a:path w="947074" h="406400">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1">
              <a:gsLst>
                <a:gs pos="0">
                  <a:srgbClr val="5284FF">
                    <a:alpha val="100000"/>
                  </a:srgbClr>
                </a:gs>
                <a:gs pos="100000">
                  <a:srgbClr val="000422">
                    <a:alpha val="100000"/>
                  </a:srgbClr>
                </a:gs>
              </a:gsLst>
              <a:lin ang="0"/>
            </a:gradFill>
            <a:ln w="47625" cap="sq">
              <a:solidFill>
                <a:srgbClr val="FFFFFF"/>
              </a:solidFill>
              <a:prstDash val="solid"/>
              <a:miter/>
            </a:ln>
          </p:spPr>
        </p:sp>
        <p:sp>
          <p:nvSpPr>
            <p:cNvPr id="36" name="TextBox 36"/>
            <p:cNvSpPr txBox="1"/>
            <p:nvPr/>
          </p:nvSpPr>
          <p:spPr>
            <a:xfrm>
              <a:off x="0" y="-28575"/>
              <a:ext cx="947074" cy="434975"/>
            </a:xfrm>
            <a:prstGeom prst="rect">
              <a:avLst/>
            </a:prstGeom>
          </p:spPr>
          <p:txBody>
            <a:bodyPr lIns="50800" tIns="50800" rIns="50800" bIns="50800" rtlCol="0" anchor="ctr"/>
            <a:lstStyle/>
            <a:p>
              <a:pPr marL="0" lvl="0" indent="0" algn="ctr">
                <a:lnSpc>
                  <a:spcPts val="2487"/>
                </a:lnSpc>
              </a:pPr>
              <a:endParaRPr/>
            </a:p>
          </p:txBody>
        </p:sp>
      </p:grpSp>
      <p:grpSp>
        <p:nvGrpSpPr>
          <p:cNvPr id="37" name="Group 37"/>
          <p:cNvGrpSpPr/>
          <p:nvPr/>
        </p:nvGrpSpPr>
        <p:grpSpPr>
          <a:xfrm>
            <a:off x="12786539" y="6715037"/>
            <a:ext cx="1797961" cy="771525"/>
            <a:chOff x="0" y="0"/>
            <a:chExt cx="947074" cy="406400"/>
          </a:xfrm>
        </p:grpSpPr>
        <p:sp>
          <p:nvSpPr>
            <p:cNvPr id="38" name="Freeform 38"/>
            <p:cNvSpPr/>
            <p:nvPr/>
          </p:nvSpPr>
          <p:spPr>
            <a:xfrm>
              <a:off x="0" y="0"/>
              <a:ext cx="947074" cy="406400"/>
            </a:xfrm>
            <a:custGeom>
              <a:avLst/>
              <a:gdLst/>
              <a:ahLst/>
              <a:cxnLst/>
              <a:rect l="l" t="t" r="r" b="b"/>
              <a:pathLst>
                <a:path w="947074" h="406400">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1">
              <a:gsLst>
                <a:gs pos="0">
                  <a:srgbClr val="5284FF">
                    <a:alpha val="100000"/>
                  </a:srgbClr>
                </a:gs>
                <a:gs pos="100000">
                  <a:srgbClr val="000422">
                    <a:alpha val="100000"/>
                  </a:srgbClr>
                </a:gs>
              </a:gsLst>
              <a:lin ang="0"/>
            </a:gradFill>
            <a:ln w="47625" cap="sq">
              <a:solidFill>
                <a:srgbClr val="FFFFFF"/>
              </a:solidFill>
              <a:prstDash val="solid"/>
              <a:miter/>
            </a:ln>
          </p:spPr>
        </p:sp>
        <p:sp>
          <p:nvSpPr>
            <p:cNvPr id="39" name="TextBox 39"/>
            <p:cNvSpPr txBox="1"/>
            <p:nvPr/>
          </p:nvSpPr>
          <p:spPr>
            <a:xfrm>
              <a:off x="0" y="-28575"/>
              <a:ext cx="947074" cy="434975"/>
            </a:xfrm>
            <a:prstGeom prst="rect">
              <a:avLst/>
            </a:prstGeom>
          </p:spPr>
          <p:txBody>
            <a:bodyPr lIns="50800" tIns="50800" rIns="50800" bIns="50800" rtlCol="0" anchor="ctr"/>
            <a:lstStyle/>
            <a:p>
              <a:pPr marL="0" lvl="0" indent="0" algn="ctr">
                <a:lnSpc>
                  <a:spcPts val="2487"/>
                </a:lnSpc>
              </a:pPr>
              <a:endParaRPr/>
            </a:p>
          </p:txBody>
        </p:sp>
      </p:grpSp>
      <p:grpSp>
        <p:nvGrpSpPr>
          <p:cNvPr id="40" name="Group 40"/>
          <p:cNvGrpSpPr/>
          <p:nvPr/>
        </p:nvGrpSpPr>
        <p:grpSpPr>
          <a:xfrm>
            <a:off x="12786539" y="7724300"/>
            <a:ext cx="1797961" cy="771525"/>
            <a:chOff x="0" y="0"/>
            <a:chExt cx="947074" cy="406400"/>
          </a:xfrm>
        </p:grpSpPr>
        <p:sp>
          <p:nvSpPr>
            <p:cNvPr id="41" name="Freeform 41"/>
            <p:cNvSpPr/>
            <p:nvPr/>
          </p:nvSpPr>
          <p:spPr>
            <a:xfrm>
              <a:off x="0" y="0"/>
              <a:ext cx="947074" cy="406400"/>
            </a:xfrm>
            <a:custGeom>
              <a:avLst/>
              <a:gdLst/>
              <a:ahLst/>
              <a:cxnLst/>
              <a:rect l="l" t="t" r="r" b="b"/>
              <a:pathLst>
                <a:path w="947074" h="406400">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1">
              <a:gsLst>
                <a:gs pos="0">
                  <a:srgbClr val="5284FF">
                    <a:alpha val="100000"/>
                  </a:srgbClr>
                </a:gs>
                <a:gs pos="100000">
                  <a:srgbClr val="000422">
                    <a:alpha val="100000"/>
                  </a:srgbClr>
                </a:gs>
              </a:gsLst>
              <a:lin ang="0"/>
            </a:gradFill>
            <a:ln w="47625" cap="sq">
              <a:solidFill>
                <a:srgbClr val="FFFFFF"/>
              </a:solidFill>
              <a:prstDash val="solid"/>
              <a:miter/>
            </a:ln>
          </p:spPr>
        </p:sp>
        <p:sp>
          <p:nvSpPr>
            <p:cNvPr id="42" name="TextBox 42"/>
            <p:cNvSpPr txBox="1"/>
            <p:nvPr/>
          </p:nvSpPr>
          <p:spPr>
            <a:xfrm>
              <a:off x="0" y="-28575"/>
              <a:ext cx="947074" cy="434975"/>
            </a:xfrm>
            <a:prstGeom prst="rect">
              <a:avLst/>
            </a:prstGeom>
          </p:spPr>
          <p:txBody>
            <a:bodyPr lIns="50800" tIns="50800" rIns="50800" bIns="50800" rtlCol="0" anchor="ctr"/>
            <a:lstStyle/>
            <a:p>
              <a:pPr marL="0" lvl="0" indent="0" algn="ctr">
                <a:lnSpc>
                  <a:spcPts val="2487"/>
                </a:lnSpc>
              </a:pPr>
              <a:endParaRPr/>
            </a:p>
          </p:txBody>
        </p:sp>
      </p:grpSp>
      <p:sp>
        <p:nvSpPr>
          <p:cNvPr id="43" name="TextBox 43"/>
          <p:cNvSpPr txBox="1"/>
          <p:nvPr/>
        </p:nvSpPr>
        <p:spPr>
          <a:xfrm>
            <a:off x="13240452" y="4834945"/>
            <a:ext cx="890134" cy="447065"/>
          </a:xfrm>
          <a:prstGeom prst="rect">
            <a:avLst/>
          </a:prstGeom>
        </p:spPr>
        <p:txBody>
          <a:bodyPr lIns="0" tIns="0" rIns="0" bIns="0" rtlCol="0" anchor="t">
            <a:spAutoFit/>
          </a:bodyPr>
          <a:lstStyle/>
          <a:p>
            <a:pPr marL="0" lvl="0" indent="0" algn="ctr">
              <a:lnSpc>
                <a:spcPts val="3708"/>
              </a:lnSpc>
              <a:spcBef>
                <a:spcPct val="0"/>
              </a:spcBef>
            </a:pPr>
            <a:endParaRPr/>
          </a:p>
        </p:txBody>
      </p:sp>
      <p:sp>
        <p:nvSpPr>
          <p:cNvPr id="44" name="TextBox 44"/>
          <p:cNvSpPr txBox="1"/>
          <p:nvPr/>
        </p:nvSpPr>
        <p:spPr>
          <a:xfrm>
            <a:off x="13240452" y="5844208"/>
            <a:ext cx="890134" cy="447065"/>
          </a:xfrm>
          <a:prstGeom prst="rect">
            <a:avLst/>
          </a:prstGeom>
        </p:spPr>
        <p:txBody>
          <a:bodyPr lIns="0" tIns="0" rIns="0" bIns="0" rtlCol="0" anchor="t">
            <a:spAutoFit/>
          </a:bodyPr>
          <a:lstStyle/>
          <a:p>
            <a:pPr marL="0" lvl="0" indent="0" algn="ctr">
              <a:lnSpc>
                <a:spcPts val="3708"/>
              </a:lnSpc>
              <a:spcBef>
                <a:spcPct val="0"/>
              </a:spcBef>
            </a:pPr>
            <a:endParaRPr/>
          </a:p>
        </p:txBody>
      </p:sp>
      <p:sp>
        <p:nvSpPr>
          <p:cNvPr id="45" name="TextBox 45"/>
          <p:cNvSpPr txBox="1"/>
          <p:nvPr/>
        </p:nvSpPr>
        <p:spPr>
          <a:xfrm>
            <a:off x="13240452" y="6849515"/>
            <a:ext cx="890134" cy="447065"/>
          </a:xfrm>
          <a:prstGeom prst="rect">
            <a:avLst/>
          </a:prstGeom>
        </p:spPr>
        <p:txBody>
          <a:bodyPr lIns="0" tIns="0" rIns="0" bIns="0" rtlCol="0" anchor="t">
            <a:spAutoFit/>
          </a:bodyPr>
          <a:lstStyle/>
          <a:p>
            <a:pPr marL="0" lvl="0" indent="0" algn="ctr">
              <a:lnSpc>
                <a:spcPts val="3708"/>
              </a:lnSpc>
              <a:spcBef>
                <a:spcPct val="0"/>
              </a:spcBef>
            </a:pPr>
            <a:endParaRPr/>
          </a:p>
        </p:txBody>
      </p:sp>
      <p:sp>
        <p:nvSpPr>
          <p:cNvPr id="46" name="TextBox 46"/>
          <p:cNvSpPr txBox="1"/>
          <p:nvPr/>
        </p:nvSpPr>
        <p:spPr>
          <a:xfrm>
            <a:off x="13240452" y="7853093"/>
            <a:ext cx="890134" cy="447065"/>
          </a:xfrm>
          <a:prstGeom prst="rect">
            <a:avLst/>
          </a:prstGeom>
        </p:spPr>
        <p:txBody>
          <a:bodyPr lIns="0" tIns="0" rIns="0" bIns="0" rtlCol="0" anchor="t">
            <a:spAutoFit/>
          </a:bodyPr>
          <a:lstStyle/>
          <a:p>
            <a:pPr marL="0" lvl="0" indent="0" algn="ctr">
              <a:lnSpc>
                <a:spcPts val="3708"/>
              </a:lnSpc>
              <a:spcBef>
                <a:spcPct val="0"/>
              </a:spcBef>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5284FF">
                <a:alpha val="100000"/>
              </a:srgbClr>
            </a:gs>
            <a:gs pos="100000">
              <a:srgbClr val="000422">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727020" y="963351"/>
            <a:ext cx="352190" cy="352190"/>
          </a:xfrm>
          <a:custGeom>
            <a:avLst/>
            <a:gdLst/>
            <a:ahLst/>
            <a:cxnLst/>
            <a:rect l="l" t="t" r="r" b="b"/>
            <a:pathLst>
              <a:path w="352190" h="352190">
                <a:moveTo>
                  <a:pt x="0" y="0"/>
                </a:moveTo>
                <a:lnTo>
                  <a:pt x="352190" y="0"/>
                </a:lnTo>
                <a:lnTo>
                  <a:pt x="352190" y="352190"/>
                </a:lnTo>
                <a:lnTo>
                  <a:pt x="0" y="35219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784291" y="901942"/>
            <a:ext cx="475009" cy="475009"/>
          </a:xfrm>
          <a:custGeom>
            <a:avLst/>
            <a:gdLst/>
            <a:ahLst/>
            <a:cxnLst/>
            <a:rect l="l" t="t" r="r" b="b"/>
            <a:pathLst>
              <a:path w="475009" h="475009">
                <a:moveTo>
                  <a:pt x="0" y="0"/>
                </a:moveTo>
                <a:lnTo>
                  <a:pt x="475009" y="0"/>
                </a:lnTo>
                <a:lnTo>
                  <a:pt x="475009" y="475009"/>
                </a:lnTo>
                <a:lnTo>
                  <a:pt x="0" y="4750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727020" y="8790012"/>
            <a:ext cx="4599258" cy="468288"/>
          </a:xfrm>
          <a:custGeom>
            <a:avLst/>
            <a:gdLst/>
            <a:ahLst/>
            <a:cxnLst/>
            <a:rect l="l" t="t" r="r" b="b"/>
            <a:pathLst>
              <a:path w="4599258" h="468288">
                <a:moveTo>
                  <a:pt x="0" y="0"/>
                </a:moveTo>
                <a:lnTo>
                  <a:pt x="4599258" y="0"/>
                </a:lnTo>
                <a:lnTo>
                  <a:pt x="4599258" y="468288"/>
                </a:lnTo>
                <a:lnTo>
                  <a:pt x="0" y="46828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104900" y="2621180"/>
            <a:ext cx="4017831" cy="701294"/>
          </a:xfrm>
          <a:custGeom>
            <a:avLst/>
            <a:gdLst/>
            <a:ahLst/>
            <a:cxnLst/>
            <a:rect l="l" t="t" r="r" b="b"/>
            <a:pathLst>
              <a:path w="4017831" h="701294">
                <a:moveTo>
                  <a:pt x="0" y="0"/>
                </a:moveTo>
                <a:lnTo>
                  <a:pt x="4017831" y="0"/>
                </a:lnTo>
                <a:lnTo>
                  <a:pt x="4017831" y="701294"/>
                </a:lnTo>
                <a:lnTo>
                  <a:pt x="0" y="701294"/>
                </a:lnTo>
                <a:lnTo>
                  <a:pt x="0" y="0"/>
                </a:lnTo>
                <a:close/>
              </a:path>
            </a:pathLst>
          </a:custGeom>
          <a:blipFill>
            <a:blip r:embed="rId8">
              <a:alphaModFix amt="48000"/>
              <a:extLst>
                <a:ext uri="{96DAC541-7B7A-43D3-8B79-37D633B846F1}">
                  <asvg:svgBlip xmlns:asvg="http://schemas.microsoft.com/office/drawing/2016/SVG/main" r:embed="rId9"/>
                </a:ext>
              </a:extLst>
            </a:blip>
            <a:stretch>
              <a:fillRect/>
            </a:stretch>
          </a:blipFill>
        </p:spPr>
      </p:sp>
      <p:sp>
        <p:nvSpPr>
          <p:cNvPr id="6" name="Freeform 6"/>
          <p:cNvSpPr/>
          <p:nvPr/>
        </p:nvSpPr>
        <p:spPr>
          <a:xfrm>
            <a:off x="8791437" y="1911939"/>
            <a:ext cx="3140702" cy="6800732"/>
          </a:xfrm>
          <a:custGeom>
            <a:avLst/>
            <a:gdLst/>
            <a:ahLst/>
            <a:cxnLst/>
            <a:rect l="l" t="t" r="r" b="b"/>
            <a:pathLst>
              <a:path w="3140702" h="6800732">
                <a:moveTo>
                  <a:pt x="0" y="0"/>
                </a:moveTo>
                <a:lnTo>
                  <a:pt x="3140701" y="0"/>
                </a:lnTo>
                <a:lnTo>
                  <a:pt x="3140701" y="6800732"/>
                </a:lnTo>
                <a:lnTo>
                  <a:pt x="0" y="680073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Freeform 7"/>
          <p:cNvSpPr/>
          <p:nvPr/>
        </p:nvSpPr>
        <p:spPr>
          <a:xfrm>
            <a:off x="8285934" y="3118818"/>
            <a:ext cx="2871723" cy="2824731"/>
          </a:xfrm>
          <a:custGeom>
            <a:avLst/>
            <a:gdLst/>
            <a:ahLst/>
            <a:cxnLst/>
            <a:rect l="l" t="t" r="r" b="b"/>
            <a:pathLst>
              <a:path w="2871723" h="2824731">
                <a:moveTo>
                  <a:pt x="0" y="0"/>
                </a:moveTo>
                <a:lnTo>
                  <a:pt x="2871722" y="0"/>
                </a:lnTo>
                <a:lnTo>
                  <a:pt x="2871722" y="2824731"/>
                </a:lnTo>
                <a:lnTo>
                  <a:pt x="0" y="282473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8" name="TextBox 8"/>
          <p:cNvSpPr txBox="1"/>
          <p:nvPr/>
        </p:nvSpPr>
        <p:spPr>
          <a:xfrm>
            <a:off x="2282165" y="977430"/>
            <a:ext cx="1559319" cy="238547"/>
          </a:xfrm>
          <a:prstGeom prst="rect">
            <a:avLst/>
          </a:prstGeom>
        </p:spPr>
        <p:txBody>
          <a:bodyPr lIns="0" tIns="0" rIns="0" bIns="0" rtlCol="0" anchor="t">
            <a:spAutoFit/>
          </a:bodyPr>
          <a:lstStyle/>
          <a:p>
            <a:pPr marL="0" lvl="0" indent="0" algn="l">
              <a:lnSpc>
                <a:spcPts val="1934"/>
              </a:lnSpc>
              <a:spcBef>
                <a:spcPct val="0"/>
              </a:spcBef>
            </a:pPr>
            <a:r>
              <a:rPr lang="en-US" sz="1381" spc="-63">
                <a:solidFill>
                  <a:srgbClr val="EBF5FE"/>
                </a:solidFill>
                <a:latin typeface="Garet"/>
                <a:ea typeface="Garet"/>
                <a:cs typeface="Garet"/>
                <a:sym typeface="Garet"/>
              </a:rPr>
              <a:t>Struktur Data</a:t>
            </a:r>
          </a:p>
        </p:txBody>
      </p:sp>
      <p:sp>
        <p:nvSpPr>
          <p:cNvPr id="9" name="TextBox 9"/>
          <p:cNvSpPr txBox="1"/>
          <p:nvPr/>
        </p:nvSpPr>
        <p:spPr>
          <a:xfrm>
            <a:off x="2534210" y="8863664"/>
            <a:ext cx="3303490" cy="238750"/>
          </a:xfrm>
          <a:prstGeom prst="rect">
            <a:avLst/>
          </a:prstGeom>
        </p:spPr>
        <p:txBody>
          <a:bodyPr lIns="0" tIns="0" rIns="0" bIns="0" rtlCol="0" anchor="t">
            <a:spAutoFit/>
          </a:bodyPr>
          <a:lstStyle/>
          <a:p>
            <a:pPr marL="0" lvl="0" indent="0" algn="l">
              <a:lnSpc>
                <a:spcPts val="1952"/>
              </a:lnSpc>
              <a:spcBef>
                <a:spcPct val="0"/>
              </a:spcBef>
            </a:pPr>
            <a:r>
              <a:rPr lang="en-US" sz="1394" b="1" spc="-64">
                <a:solidFill>
                  <a:srgbClr val="3C67BF"/>
                </a:solidFill>
                <a:latin typeface="Garet Bold"/>
                <a:ea typeface="Garet Bold"/>
                <a:cs typeface="Garet Bold"/>
                <a:sym typeface="Garet Bold"/>
              </a:rPr>
              <a:t>DSS Pemilihan Supplier Berbasis Graph</a:t>
            </a:r>
          </a:p>
        </p:txBody>
      </p:sp>
      <p:sp>
        <p:nvSpPr>
          <p:cNvPr id="10" name="TextBox 10"/>
          <p:cNvSpPr txBox="1"/>
          <p:nvPr/>
        </p:nvSpPr>
        <p:spPr>
          <a:xfrm>
            <a:off x="16070360" y="8863664"/>
            <a:ext cx="1188940" cy="240806"/>
          </a:xfrm>
          <a:prstGeom prst="rect">
            <a:avLst/>
          </a:prstGeom>
        </p:spPr>
        <p:txBody>
          <a:bodyPr lIns="0" tIns="0" rIns="0" bIns="0" rtlCol="0" anchor="t">
            <a:spAutoFit/>
          </a:bodyPr>
          <a:lstStyle/>
          <a:p>
            <a:pPr marL="0" lvl="0" indent="0" algn="l">
              <a:lnSpc>
                <a:spcPts val="1952"/>
              </a:lnSpc>
              <a:spcBef>
                <a:spcPct val="0"/>
              </a:spcBef>
            </a:pPr>
            <a:r>
              <a:rPr lang="en-US" sz="1394" spc="-64">
                <a:solidFill>
                  <a:srgbClr val="EBF5FE"/>
                </a:solidFill>
                <a:latin typeface="Garet"/>
                <a:ea typeface="Garet"/>
                <a:cs typeface="Garet"/>
                <a:sym typeface="Garet"/>
              </a:rPr>
              <a:t>page 005</a:t>
            </a:r>
          </a:p>
        </p:txBody>
      </p:sp>
      <p:sp>
        <p:nvSpPr>
          <p:cNvPr id="11" name="TextBox 11"/>
          <p:cNvSpPr txBox="1"/>
          <p:nvPr/>
        </p:nvSpPr>
        <p:spPr>
          <a:xfrm>
            <a:off x="1727020" y="1825486"/>
            <a:ext cx="5620038" cy="1281896"/>
          </a:xfrm>
          <a:prstGeom prst="rect">
            <a:avLst/>
          </a:prstGeom>
        </p:spPr>
        <p:txBody>
          <a:bodyPr lIns="0" tIns="0" rIns="0" bIns="0" rtlCol="0" anchor="t">
            <a:spAutoFit/>
          </a:bodyPr>
          <a:lstStyle/>
          <a:p>
            <a:pPr marL="0" lvl="0" indent="0" algn="l">
              <a:lnSpc>
                <a:spcPts val="10566"/>
              </a:lnSpc>
              <a:spcBef>
                <a:spcPct val="0"/>
              </a:spcBef>
            </a:pPr>
            <a:r>
              <a:rPr lang="en-US" sz="7547" spc="-347">
                <a:solidFill>
                  <a:srgbClr val="EBF5FE"/>
                </a:solidFill>
                <a:latin typeface="Garet"/>
                <a:ea typeface="Garet"/>
                <a:cs typeface="Garet"/>
                <a:sym typeface="Garet"/>
              </a:rPr>
              <a:t>METODE</a:t>
            </a:r>
          </a:p>
        </p:txBody>
      </p:sp>
      <p:sp>
        <p:nvSpPr>
          <p:cNvPr id="12" name="TextBox 12"/>
          <p:cNvSpPr txBox="1"/>
          <p:nvPr/>
        </p:nvSpPr>
        <p:spPr>
          <a:xfrm>
            <a:off x="1727020" y="2864582"/>
            <a:ext cx="5935716" cy="1281896"/>
          </a:xfrm>
          <a:prstGeom prst="rect">
            <a:avLst/>
          </a:prstGeom>
        </p:spPr>
        <p:txBody>
          <a:bodyPr lIns="0" tIns="0" rIns="0" bIns="0" rtlCol="0" anchor="t">
            <a:spAutoFit/>
          </a:bodyPr>
          <a:lstStyle/>
          <a:p>
            <a:pPr marL="0" lvl="0" indent="0" algn="l">
              <a:lnSpc>
                <a:spcPts val="10566"/>
              </a:lnSpc>
              <a:spcBef>
                <a:spcPct val="0"/>
              </a:spcBef>
            </a:pPr>
            <a:r>
              <a:rPr lang="en-US" sz="7547" b="1" spc="-347">
                <a:solidFill>
                  <a:srgbClr val="EBF5FE"/>
                </a:solidFill>
                <a:latin typeface="Garet Bold"/>
                <a:ea typeface="Garet Bold"/>
                <a:cs typeface="Garet Bold"/>
                <a:sym typeface="Garet Bold"/>
              </a:rPr>
              <a:t>ALGORITMA</a:t>
            </a:r>
          </a:p>
        </p:txBody>
      </p:sp>
      <p:grpSp>
        <p:nvGrpSpPr>
          <p:cNvPr id="13" name="Group 13"/>
          <p:cNvGrpSpPr/>
          <p:nvPr/>
        </p:nvGrpSpPr>
        <p:grpSpPr>
          <a:xfrm>
            <a:off x="1727020" y="4853240"/>
            <a:ext cx="6389629" cy="771525"/>
            <a:chOff x="0" y="0"/>
            <a:chExt cx="3365731" cy="406400"/>
          </a:xfrm>
        </p:grpSpPr>
        <p:sp>
          <p:nvSpPr>
            <p:cNvPr id="14" name="Freeform 14"/>
            <p:cNvSpPr/>
            <p:nvPr/>
          </p:nvSpPr>
          <p:spPr>
            <a:xfrm>
              <a:off x="0" y="0"/>
              <a:ext cx="3365731"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sp>
          <p:nvSpPr>
            <p:cNvPr id="15" name="TextBox 15"/>
            <p:cNvSpPr txBox="1"/>
            <p:nvPr/>
          </p:nvSpPr>
          <p:spPr>
            <a:xfrm>
              <a:off x="0" y="-28575"/>
              <a:ext cx="3365731" cy="434975"/>
            </a:xfrm>
            <a:prstGeom prst="rect">
              <a:avLst/>
            </a:prstGeom>
          </p:spPr>
          <p:txBody>
            <a:bodyPr lIns="50800" tIns="50800" rIns="50800" bIns="50800" rtlCol="0" anchor="ctr"/>
            <a:lstStyle/>
            <a:p>
              <a:pPr marL="0" lvl="0" indent="0" algn="ctr">
                <a:lnSpc>
                  <a:spcPts val="2487"/>
                </a:lnSpc>
              </a:pPr>
              <a:endParaRPr/>
            </a:p>
          </p:txBody>
        </p:sp>
      </p:grpSp>
      <p:grpSp>
        <p:nvGrpSpPr>
          <p:cNvPr id="16" name="Group 16"/>
          <p:cNvGrpSpPr/>
          <p:nvPr/>
        </p:nvGrpSpPr>
        <p:grpSpPr>
          <a:xfrm>
            <a:off x="1727020" y="5862151"/>
            <a:ext cx="6389629" cy="771525"/>
            <a:chOff x="0" y="0"/>
            <a:chExt cx="3365731" cy="406400"/>
          </a:xfrm>
        </p:grpSpPr>
        <p:sp>
          <p:nvSpPr>
            <p:cNvPr id="17" name="Freeform 17"/>
            <p:cNvSpPr/>
            <p:nvPr/>
          </p:nvSpPr>
          <p:spPr>
            <a:xfrm>
              <a:off x="0" y="0"/>
              <a:ext cx="3365731"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sp>
          <p:nvSpPr>
            <p:cNvPr id="18" name="TextBox 18"/>
            <p:cNvSpPr txBox="1"/>
            <p:nvPr/>
          </p:nvSpPr>
          <p:spPr>
            <a:xfrm>
              <a:off x="0" y="-28575"/>
              <a:ext cx="3365731" cy="434975"/>
            </a:xfrm>
            <a:prstGeom prst="rect">
              <a:avLst/>
            </a:prstGeom>
          </p:spPr>
          <p:txBody>
            <a:bodyPr lIns="50800" tIns="50800" rIns="50800" bIns="50800" rtlCol="0" anchor="ctr"/>
            <a:lstStyle/>
            <a:p>
              <a:pPr marL="0" lvl="0" indent="0" algn="ctr">
                <a:lnSpc>
                  <a:spcPts val="2487"/>
                </a:lnSpc>
              </a:pPr>
              <a:endParaRPr/>
            </a:p>
          </p:txBody>
        </p:sp>
      </p:grpSp>
      <p:grpSp>
        <p:nvGrpSpPr>
          <p:cNvPr id="19" name="Group 19"/>
          <p:cNvGrpSpPr/>
          <p:nvPr/>
        </p:nvGrpSpPr>
        <p:grpSpPr>
          <a:xfrm>
            <a:off x="1727020" y="6871061"/>
            <a:ext cx="6389629" cy="771525"/>
            <a:chOff x="0" y="0"/>
            <a:chExt cx="3365731" cy="406400"/>
          </a:xfrm>
        </p:grpSpPr>
        <p:sp>
          <p:nvSpPr>
            <p:cNvPr id="20" name="Freeform 20"/>
            <p:cNvSpPr/>
            <p:nvPr/>
          </p:nvSpPr>
          <p:spPr>
            <a:xfrm>
              <a:off x="0" y="0"/>
              <a:ext cx="3365731" cy="406400"/>
            </a:xfrm>
            <a:custGeom>
              <a:avLst/>
              <a:gdLst/>
              <a:ahLst/>
              <a:cxnLst/>
              <a:rect l="l" t="t" r="r" b="b"/>
              <a:pathLst>
                <a:path w="3365731" h="406400">
                  <a:moveTo>
                    <a:pt x="3162531" y="0"/>
                  </a:moveTo>
                  <a:cubicBezTo>
                    <a:pt x="3274755" y="0"/>
                    <a:pt x="3365731" y="90976"/>
                    <a:pt x="3365731" y="203200"/>
                  </a:cubicBezTo>
                  <a:cubicBezTo>
                    <a:pt x="3365731" y="315424"/>
                    <a:pt x="3274755" y="406400"/>
                    <a:pt x="3162531" y="406400"/>
                  </a:cubicBezTo>
                  <a:lnTo>
                    <a:pt x="203200" y="406400"/>
                  </a:lnTo>
                  <a:cubicBezTo>
                    <a:pt x="90976" y="406400"/>
                    <a:pt x="0" y="315424"/>
                    <a:pt x="0" y="203200"/>
                  </a:cubicBezTo>
                  <a:cubicBezTo>
                    <a:pt x="0" y="90976"/>
                    <a:pt x="90976" y="0"/>
                    <a:pt x="203200" y="0"/>
                  </a:cubicBezTo>
                  <a:close/>
                </a:path>
              </a:pathLst>
            </a:custGeom>
            <a:gradFill rotWithShape="1">
              <a:gsLst>
                <a:gs pos="0">
                  <a:srgbClr val="9FCDFF">
                    <a:alpha val="0"/>
                  </a:srgbClr>
                </a:gs>
                <a:gs pos="100000">
                  <a:srgbClr val="3964CD">
                    <a:alpha val="100000"/>
                  </a:srgbClr>
                </a:gs>
              </a:gsLst>
              <a:lin ang="0"/>
            </a:gradFill>
            <a:ln w="47625" cap="sq">
              <a:solidFill>
                <a:srgbClr val="FFFFFF"/>
              </a:solidFill>
              <a:prstDash val="solid"/>
              <a:miter/>
            </a:ln>
          </p:spPr>
        </p:sp>
        <p:sp>
          <p:nvSpPr>
            <p:cNvPr id="21" name="TextBox 21"/>
            <p:cNvSpPr txBox="1"/>
            <p:nvPr/>
          </p:nvSpPr>
          <p:spPr>
            <a:xfrm>
              <a:off x="0" y="-28575"/>
              <a:ext cx="3365731" cy="434975"/>
            </a:xfrm>
            <a:prstGeom prst="rect">
              <a:avLst/>
            </a:prstGeom>
          </p:spPr>
          <p:txBody>
            <a:bodyPr lIns="50800" tIns="50800" rIns="50800" bIns="50800" rtlCol="0" anchor="ctr"/>
            <a:lstStyle/>
            <a:p>
              <a:pPr marL="0" lvl="0" indent="0" algn="ctr">
                <a:lnSpc>
                  <a:spcPts val="2487"/>
                </a:lnSpc>
              </a:pPr>
              <a:endParaRPr/>
            </a:p>
          </p:txBody>
        </p:sp>
      </p:grpSp>
      <p:sp>
        <p:nvSpPr>
          <p:cNvPr id="22" name="TextBox 22"/>
          <p:cNvSpPr txBox="1"/>
          <p:nvPr/>
        </p:nvSpPr>
        <p:spPr>
          <a:xfrm>
            <a:off x="12608413" y="3698258"/>
            <a:ext cx="4177366" cy="2042567"/>
          </a:xfrm>
          <a:prstGeom prst="rect">
            <a:avLst/>
          </a:prstGeom>
        </p:spPr>
        <p:txBody>
          <a:bodyPr lIns="0" tIns="0" rIns="0" bIns="0" rtlCol="0" anchor="t">
            <a:spAutoFit/>
          </a:bodyPr>
          <a:lstStyle/>
          <a:p>
            <a:pPr marL="0" lvl="0" indent="0" algn="just">
              <a:lnSpc>
                <a:spcPts val="1867"/>
              </a:lnSpc>
              <a:spcBef>
                <a:spcPct val="0"/>
              </a:spcBef>
            </a:pPr>
            <a:r>
              <a:rPr lang="en-US" sz="1333" spc="-61">
                <a:solidFill>
                  <a:srgbClr val="EBF5FE"/>
                </a:solidFill>
                <a:latin typeface="Garet"/>
                <a:ea typeface="Garet"/>
                <a:cs typeface="Garet"/>
                <a:sym typeface="Garet"/>
              </a:rPr>
              <a:t>Multi-Criteria Decision Making (MCDM) menggunakan Weighted Sum Model (WSM) untuk mengevaluasi dan meranking supplier. Normalisasi Min-Max diterapkan pada 4 kriteria: Harga (cost), Jarak (cost), Kualitas (benefit), dan Waktu Kirim (cost). Algoritma Dijkstra digunakan untuk menemukan jalur terpendek dari Pabrik ke Supplier pada Weighted Undirected Graph dengan representasi Adjacency List.</a:t>
            </a:r>
          </a:p>
        </p:txBody>
      </p:sp>
      <p:grpSp>
        <p:nvGrpSpPr>
          <p:cNvPr id="23" name="Group 23"/>
          <p:cNvGrpSpPr/>
          <p:nvPr/>
        </p:nvGrpSpPr>
        <p:grpSpPr>
          <a:xfrm>
            <a:off x="6318689" y="4853240"/>
            <a:ext cx="1797961" cy="771525"/>
            <a:chOff x="0" y="0"/>
            <a:chExt cx="947074" cy="406400"/>
          </a:xfrm>
        </p:grpSpPr>
        <p:sp>
          <p:nvSpPr>
            <p:cNvPr id="24" name="Freeform 24"/>
            <p:cNvSpPr/>
            <p:nvPr/>
          </p:nvSpPr>
          <p:spPr>
            <a:xfrm>
              <a:off x="0" y="0"/>
              <a:ext cx="947074" cy="406400"/>
            </a:xfrm>
            <a:custGeom>
              <a:avLst/>
              <a:gdLst/>
              <a:ahLst/>
              <a:cxnLst/>
              <a:rect l="l" t="t" r="r" b="b"/>
              <a:pathLst>
                <a:path w="947074" h="406400">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1">
              <a:gsLst>
                <a:gs pos="0">
                  <a:srgbClr val="5284FF">
                    <a:alpha val="100000"/>
                  </a:srgbClr>
                </a:gs>
                <a:gs pos="100000">
                  <a:srgbClr val="000422">
                    <a:alpha val="100000"/>
                  </a:srgbClr>
                </a:gs>
              </a:gsLst>
              <a:lin ang="0"/>
            </a:gradFill>
            <a:ln w="47625" cap="sq">
              <a:solidFill>
                <a:srgbClr val="FFFFFF"/>
              </a:solidFill>
              <a:prstDash val="solid"/>
              <a:miter/>
            </a:ln>
          </p:spPr>
        </p:sp>
        <p:sp>
          <p:nvSpPr>
            <p:cNvPr id="25" name="TextBox 25"/>
            <p:cNvSpPr txBox="1"/>
            <p:nvPr/>
          </p:nvSpPr>
          <p:spPr>
            <a:xfrm>
              <a:off x="0" y="-28575"/>
              <a:ext cx="947074" cy="434975"/>
            </a:xfrm>
            <a:prstGeom prst="rect">
              <a:avLst/>
            </a:prstGeom>
          </p:spPr>
          <p:txBody>
            <a:bodyPr lIns="50800" tIns="50800" rIns="50800" bIns="50800" rtlCol="0" anchor="ctr"/>
            <a:lstStyle/>
            <a:p>
              <a:pPr marL="0" lvl="0" indent="0" algn="ctr">
                <a:lnSpc>
                  <a:spcPts val="2487"/>
                </a:lnSpc>
              </a:pPr>
              <a:endParaRPr/>
            </a:p>
          </p:txBody>
        </p:sp>
      </p:grpSp>
      <p:sp>
        <p:nvSpPr>
          <p:cNvPr id="26" name="TextBox 26"/>
          <p:cNvSpPr txBox="1"/>
          <p:nvPr/>
        </p:nvSpPr>
        <p:spPr>
          <a:xfrm>
            <a:off x="6772602" y="4991673"/>
            <a:ext cx="890134" cy="356740"/>
          </a:xfrm>
          <a:prstGeom prst="rect">
            <a:avLst/>
          </a:prstGeom>
        </p:spPr>
        <p:txBody>
          <a:bodyPr lIns="0" tIns="0" rIns="0" bIns="0" rtlCol="0" anchor="t">
            <a:spAutoFit/>
          </a:bodyPr>
          <a:lstStyle/>
          <a:p>
            <a:pPr marL="0" lvl="0" indent="0" algn="ctr">
              <a:lnSpc>
                <a:spcPts val="2912"/>
              </a:lnSpc>
              <a:spcBef>
                <a:spcPct val="0"/>
              </a:spcBef>
            </a:pPr>
            <a:r>
              <a:rPr lang="en-US" sz="2080" b="1" spc="-95">
                <a:solidFill>
                  <a:srgbClr val="EBF5FE"/>
                </a:solidFill>
                <a:latin typeface="Garet Bold"/>
                <a:ea typeface="Garet Bold"/>
                <a:cs typeface="Garet Bold"/>
                <a:sym typeface="Garet Bold"/>
              </a:rPr>
              <a:t>01.</a:t>
            </a:r>
          </a:p>
        </p:txBody>
      </p:sp>
      <p:grpSp>
        <p:nvGrpSpPr>
          <p:cNvPr id="27" name="Group 27"/>
          <p:cNvGrpSpPr/>
          <p:nvPr/>
        </p:nvGrpSpPr>
        <p:grpSpPr>
          <a:xfrm>
            <a:off x="6318689" y="5862151"/>
            <a:ext cx="1797961" cy="771525"/>
            <a:chOff x="0" y="0"/>
            <a:chExt cx="947074" cy="406400"/>
          </a:xfrm>
        </p:grpSpPr>
        <p:sp>
          <p:nvSpPr>
            <p:cNvPr id="28" name="Freeform 28"/>
            <p:cNvSpPr/>
            <p:nvPr/>
          </p:nvSpPr>
          <p:spPr>
            <a:xfrm>
              <a:off x="0" y="0"/>
              <a:ext cx="947074" cy="406400"/>
            </a:xfrm>
            <a:custGeom>
              <a:avLst/>
              <a:gdLst/>
              <a:ahLst/>
              <a:cxnLst/>
              <a:rect l="l" t="t" r="r" b="b"/>
              <a:pathLst>
                <a:path w="947074" h="406400">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1">
              <a:gsLst>
                <a:gs pos="0">
                  <a:srgbClr val="5284FF">
                    <a:alpha val="100000"/>
                  </a:srgbClr>
                </a:gs>
                <a:gs pos="100000">
                  <a:srgbClr val="000422">
                    <a:alpha val="100000"/>
                  </a:srgbClr>
                </a:gs>
              </a:gsLst>
              <a:lin ang="0"/>
            </a:gradFill>
            <a:ln w="47625" cap="sq">
              <a:solidFill>
                <a:srgbClr val="FFFFFF"/>
              </a:solidFill>
              <a:prstDash val="solid"/>
              <a:miter/>
            </a:ln>
          </p:spPr>
        </p:sp>
        <p:sp>
          <p:nvSpPr>
            <p:cNvPr id="29" name="TextBox 29"/>
            <p:cNvSpPr txBox="1"/>
            <p:nvPr/>
          </p:nvSpPr>
          <p:spPr>
            <a:xfrm>
              <a:off x="0" y="-28575"/>
              <a:ext cx="947074" cy="434975"/>
            </a:xfrm>
            <a:prstGeom prst="rect">
              <a:avLst/>
            </a:prstGeom>
          </p:spPr>
          <p:txBody>
            <a:bodyPr lIns="50800" tIns="50800" rIns="50800" bIns="50800" rtlCol="0" anchor="ctr"/>
            <a:lstStyle/>
            <a:p>
              <a:pPr marL="0" lvl="0" indent="0" algn="ctr">
                <a:lnSpc>
                  <a:spcPts val="2487"/>
                </a:lnSpc>
              </a:pPr>
              <a:endParaRPr/>
            </a:p>
          </p:txBody>
        </p:sp>
      </p:grpSp>
      <p:sp>
        <p:nvSpPr>
          <p:cNvPr id="30" name="TextBox 30"/>
          <p:cNvSpPr txBox="1"/>
          <p:nvPr/>
        </p:nvSpPr>
        <p:spPr>
          <a:xfrm>
            <a:off x="6772602" y="6000583"/>
            <a:ext cx="890134" cy="356740"/>
          </a:xfrm>
          <a:prstGeom prst="rect">
            <a:avLst/>
          </a:prstGeom>
        </p:spPr>
        <p:txBody>
          <a:bodyPr lIns="0" tIns="0" rIns="0" bIns="0" rtlCol="0" anchor="t">
            <a:spAutoFit/>
          </a:bodyPr>
          <a:lstStyle/>
          <a:p>
            <a:pPr marL="0" lvl="0" indent="0" algn="ctr">
              <a:lnSpc>
                <a:spcPts val="2912"/>
              </a:lnSpc>
              <a:spcBef>
                <a:spcPct val="0"/>
              </a:spcBef>
            </a:pPr>
            <a:r>
              <a:rPr lang="en-US" sz="2080" b="1" spc="-95">
                <a:solidFill>
                  <a:srgbClr val="EBF5FE"/>
                </a:solidFill>
                <a:latin typeface="Garet Bold"/>
                <a:ea typeface="Garet Bold"/>
                <a:cs typeface="Garet Bold"/>
                <a:sym typeface="Garet Bold"/>
              </a:rPr>
              <a:t>02.</a:t>
            </a:r>
          </a:p>
        </p:txBody>
      </p:sp>
      <p:grpSp>
        <p:nvGrpSpPr>
          <p:cNvPr id="31" name="Group 31"/>
          <p:cNvGrpSpPr/>
          <p:nvPr/>
        </p:nvGrpSpPr>
        <p:grpSpPr>
          <a:xfrm>
            <a:off x="6318689" y="6871061"/>
            <a:ext cx="1797961" cy="771525"/>
            <a:chOff x="0" y="0"/>
            <a:chExt cx="947074" cy="406400"/>
          </a:xfrm>
        </p:grpSpPr>
        <p:sp>
          <p:nvSpPr>
            <p:cNvPr id="32" name="Freeform 32"/>
            <p:cNvSpPr/>
            <p:nvPr/>
          </p:nvSpPr>
          <p:spPr>
            <a:xfrm>
              <a:off x="0" y="0"/>
              <a:ext cx="947074" cy="406400"/>
            </a:xfrm>
            <a:custGeom>
              <a:avLst/>
              <a:gdLst/>
              <a:ahLst/>
              <a:cxnLst/>
              <a:rect l="l" t="t" r="r" b="b"/>
              <a:pathLst>
                <a:path w="947074" h="406400">
                  <a:moveTo>
                    <a:pt x="743874" y="0"/>
                  </a:moveTo>
                  <a:cubicBezTo>
                    <a:pt x="856098" y="0"/>
                    <a:pt x="947074" y="90976"/>
                    <a:pt x="947074" y="203200"/>
                  </a:cubicBezTo>
                  <a:cubicBezTo>
                    <a:pt x="947074" y="315424"/>
                    <a:pt x="856098" y="406400"/>
                    <a:pt x="743874" y="406400"/>
                  </a:cubicBezTo>
                  <a:lnTo>
                    <a:pt x="203200" y="406400"/>
                  </a:lnTo>
                  <a:cubicBezTo>
                    <a:pt x="90976" y="406400"/>
                    <a:pt x="0" y="315424"/>
                    <a:pt x="0" y="203200"/>
                  </a:cubicBezTo>
                  <a:cubicBezTo>
                    <a:pt x="0" y="90976"/>
                    <a:pt x="90976" y="0"/>
                    <a:pt x="203200" y="0"/>
                  </a:cubicBezTo>
                  <a:close/>
                </a:path>
              </a:pathLst>
            </a:custGeom>
            <a:gradFill rotWithShape="1">
              <a:gsLst>
                <a:gs pos="0">
                  <a:srgbClr val="5284FF">
                    <a:alpha val="100000"/>
                  </a:srgbClr>
                </a:gs>
                <a:gs pos="100000">
                  <a:srgbClr val="000422">
                    <a:alpha val="100000"/>
                  </a:srgbClr>
                </a:gs>
              </a:gsLst>
              <a:lin ang="0"/>
            </a:gradFill>
            <a:ln w="47625" cap="sq">
              <a:solidFill>
                <a:srgbClr val="FFFFFF"/>
              </a:solidFill>
              <a:prstDash val="solid"/>
              <a:miter/>
            </a:ln>
          </p:spPr>
        </p:sp>
        <p:sp>
          <p:nvSpPr>
            <p:cNvPr id="33" name="TextBox 33"/>
            <p:cNvSpPr txBox="1"/>
            <p:nvPr/>
          </p:nvSpPr>
          <p:spPr>
            <a:xfrm>
              <a:off x="0" y="-28575"/>
              <a:ext cx="947074" cy="434975"/>
            </a:xfrm>
            <a:prstGeom prst="rect">
              <a:avLst/>
            </a:prstGeom>
          </p:spPr>
          <p:txBody>
            <a:bodyPr lIns="50800" tIns="50800" rIns="50800" bIns="50800" rtlCol="0" anchor="ctr"/>
            <a:lstStyle/>
            <a:p>
              <a:pPr marL="0" lvl="0" indent="0" algn="ctr">
                <a:lnSpc>
                  <a:spcPts val="2487"/>
                </a:lnSpc>
              </a:pPr>
              <a:endParaRPr/>
            </a:p>
          </p:txBody>
        </p:sp>
      </p:grpSp>
      <p:sp>
        <p:nvSpPr>
          <p:cNvPr id="34" name="TextBox 34"/>
          <p:cNvSpPr txBox="1"/>
          <p:nvPr/>
        </p:nvSpPr>
        <p:spPr>
          <a:xfrm>
            <a:off x="6772602" y="7009494"/>
            <a:ext cx="890134" cy="356740"/>
          </a:xfrm>
          <a:prstGeom prst="rect">
            <a:avLst/>
          </a:prstGeom>
        </p:spPr>
        <p:txBody>
          <a:bodyPr lIns="0" tIns="0" rIns="0" bIns="0" rtlCol="0" anchor="t">
            <a:spAutoFit/>
          </a:bodyPr>
          <a:lstStyle/>
          <a:p>
            <a:pPr marL="0" lvl="0" indent="0" algn="ctr">
              <a:lnSpc>
                <a:spcPts val="2912"/>
              </a:lnSpc>
              <a:spcBef>
                <a:spcPct val="0"/>
              </a:spcBef>
            </a:pPr>
            <a:r>
              <a:rPr lang="en-US" sz="2080" b="1" spc="-95">
                <a:solidFill>
                  <a:srgbClr val="EBF5FE"/>
                </a:solidFill>
                <a:latin typeface="Garet Bold"/>
                <a:ea typeface="Garet Bold"/>
                <a:cs typeface="Garet Bold"/>
                <a:sym typeface="Garet Bold"/>
              </a:rPr>
              <a:t>03.</a:t>
            </a:r>
          </a:p>
        </p:txBody>
      </p:sp>
      <p:sp>
        <p:nvSpPr>
          <p:cNvPr id="35" name="TextBox 35"/>
          <p:cNvSpPr txBox="1"/>
          <p:nvPr/>
        </p:nvSpPr>
        <p:spPr>
          <a:xfrm>
            <a:off x="1948593" y="4991673"/>
            <a:ext cx="4156113" cy="381791"/>
          </a:xfrm>
          <a:prstGeom prst="rect">
            <a:avLst/>
          </a:prstGeom>
        </p:spPr>
        <p:txBody>
          <a:bodyPr lIns="0" tIns="0" rIns="0" bIns="0" rtlCol="0" anchor="t">
            <a:spAutoFit/>
          </a:bodyPr>
          <a:lstStyle/>
          <a:p>
            <a:pPr marL="0" lvl="0" indent="0" algn="l">
              <a:lnSpc>
                <a:spcPts val="3106"/>
              </a:lnSpc>
              <a:spcBef>
                <a:spcPct val="0"/>
              </a:spcBef>
            </a:pPr>
            <a:r>
              <a:rPr lang="en-US" sz="2218" b="1" spc="-102">
                <a:solidFill>
                  <a:srgbClr val="EBF5FE"/>
                </a:solidFill>
                <a:latin typeface="Garet Bold"/>
                <a:ea typeface="Garet Bold"/>
                <a:cs typeface="Garet Bold"/>
                <a:sym typeface="Garet Bold"/>
              </a:rPr>
              <a:t>MCDM &amp; Weighted Sum Model</a:t>
            </a:r>
          </a:p>
        </p:txBody>
      </p:sp>
      <p:sp>
        <p:nvSpPr>
          <p:cNvPr id="36" name="TextBox 36"/>
          <p:cNvSpPr txBox="1"/>
          <p:nvPr/>
        </p:nvSpPr>
        <p:spPr>
          <a:xfrm>
            <a:off x="2458983" y="6000583"/>
            <a:ext cx="4156113" cy="381791"/>
          </a:xfrm>
          <a:prstGeom prst="rect">
            <a:avLst/>
          </a:prstGeom>
        </p:spPr>
        <p:txBody>
          <a:bodyPr lIns="0" tIns="0" rIns="0" bIns="0" rtlCol="0" anchor="t">
            <a:spAutoFit/>
          </a:bodyPr>
          <a:lstStyle/>
          <a:p>
            <a:pPr marL="0" lvl="0" indent="0" algn="l">
              <a:lnSpc>
                <a:spcPts val="3106"/>
              </a:lnSpc>
              <a:spcBef>
                <a:spcPct val="0"/>
              </a:spcBef>
            </a:pPr>
            <a:r>
              <a:rPr lang="en-US" sz="2218" b="1" spc="-102">
                <a:solidFill>
                  <a:srgbClr val="EBF5FE"/>
                </a:solidFill>
                <a:latin typeface="Garet Bold"/>
                <a:ea typeface="Garet Bold"/>
                <a:cs typeface="Garet Bold"/>
                <a:sym typeface="Garet Bold"/>
              </a:rPr>
              <a:t>Normalisasi Min-Max</a:t>
            </a:r>
          </a:p>
        </p:txBody>
      </p:sp>
      <p:sp>
        <p:nvSpPr>
          <p:cNvPr id="37" name="TextBox 37"/>
          <p:cNvSpPr txBox="1"/>
          <p:nvPr/>
        </p:nvSpPr>
        <p:spPr>
          <a:xfrm>
            <a:off x="2458983" y="7009494"/>
            <a:ext cx="4156113" cy="381791"/>
          </a:xfrm>
          <a:prstGeom prst="rect">
            <a:avLst/>
          </a:prstGeom>
        </p:spPr>
        <p:txBody>
          <a:bodyPr lIns="0" tIns="0" rIns="0" bIns="0" rtlCol="0" anchor="t">
            <a:spAutoFit/>
          </a:bodyPr>
          <a:lstStyle/>
          <a:p>
            <a:pPr marL="0" lvl="0" indent="0" algn="l">
              <a:lnSpc>
                <a:spcPts val="3106"/>
              </a:lnSpc>
              <a:spcBef>
                <a:spcPct val="0"/>
              </a:spcBef>
            </a:pPr>
            <a:r>
              <a:rPr lang="en-US" sz="2218" b="1" spc="-102">
                <a:solidFill>
                  <a:srgbClr val="EBF5FE"/>
                </a:solidFill>
                <a:latin typeface="Garet Bold"/>
                <a:ea typeface="Garet Bold"/>
                <a:cs typeface="Garet Bold"/>
                <a:sym typeface="Garet Bold"/>
              </a:rPr>
              <a:t>Algoritma Dijkstra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5284FF">
                <a:alpha val="100000"/>
              </a:srgbClr>
            </a:gs>
            <a:gs pos="100000">
              <a:srgbClr val="000422">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rot="10407285">
            <a:off x="3958143" y="-42357"/>
            <a:ext cx="10371714" cy="1037171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FCDFF">
                    <a:alpha val="0"/>
                  </a:srgbClr>
                </a:gs>
                <a:gs pos="100000">
                  <a:srgbClr val="3964CD">
                    <a:alpha val="100000"/>
                  </a:srgbClr>
                </a:gs>
              </a:gsLst>
              <a:lin ang="0"/>
            </a:gradFill>
          </p:spPr>
        </p:sp>
        <p:sp>
          <p:nvSpPr>
            <p:cNvPr id="4" name="TextBox 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rot="10407285">
            <a:off x="5363810" y="1434956"/>
            <a:ext cx="7560380" cy="756038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9FCDFF">
                    <a:alpha val="0"/>
                  </a:srgbClr>
                </a:gs>
                <a:gs pos="100000">
                  <a:srgbClr val="3964CD">
                    <a:alpha val="100000"/>
                  </a:srgbClr>
                </a:gs>
              </a:gsLst>
              <a:lin ang="0"/>
            </a:gradFill>
          </p:spPr>
        </p:sp>
        <p:sp>
          <p:nvSpPr>
            <p:cNvPr id="7" name="TextBox 7"/>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8" name="Freeform 8"/>
          <p:cNvSpPr/>
          <p:nvPr/>
        </p:nvSpPr>
        <p:spPr>
          <a:xfrm>
            <a:off x="7621222" y="3012134"/>
            <a:ext cx="507275" cy="507275"/>
          </a:xfrm>
          <a:custGeom>
            <a:avLst/>
            <a:gdLst/>
            <a:ahLst/>
            <a:cxnLst/>
            <a:rect l="l" t="t" r="r" b="b"/>
            <a:pathLst>
              <a:path w="507275" h="507275">
                <a:moveTo>
                  <a:pt x="0" y="0"/>
                </a:moveTo>
                <a:lnTo>
                  <a:pt x="507275" y="0"/>
                </a:lnTo>
                <a:lnTo>
                  <a:pt x="507275" y="507275"/>
                </a:lnTo>
                <a:lnTo>
                  <a:pt x="0" y="50727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6249095" y="8274124"/>
            <a:ext cx="6112214" cy="622335"/>
          </a:xfrm>
          <a:custGeom>
            <a:avLst/>
            <a:gdLst/>
            <a:ahLst/>
            <a:cxnLst/>
            <a:rect l="l" t="t" r="r" b="b"/>
            <a:pathLst>
              <a:path w="6112214" h="622335">
                <a:moveTo>
                  <a:pt x="0" y="0"/>
                </a:moveTo>
                <a:lnTo>
                  <a:pt x="6112215" y="0"/>
                </a:lnTo>
                <a:lnTo>
                  <a:pt x="6112215" y="622334"/>
                </a:lnTo>
                <a:lnTo>
                  <a:pt x="0" y="62233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0" y="1858376"/>
            <a:ext cx="6442371" cy="6726915"/>
          </a:xfrm>
          <a:custGeom>
            <a:avLst/>
            <a:gdLst/>
            <a:ahLst/>
            <a:cxnLst/>
            <a:rect l="l" t="t" r="r" b="b"/>
            <a:pathLst>
              <a:path w="6442371" h="6726915">
                <a:moveTo>
                  <a:pt x="0" y="0"/>
                </a:moveTo>
                <a:lnTo>
                  <a:pt x="6442371" y="0"/>
                </a:lnTo>
                <a:lnTo>
                  <a:pt x="6442371" y="6726915"/>
                </a:lnTo>
                <a:lnTo>
                  <a:pt x="0" y="6726915"/>
                </a:lnTo>
                <a:lnTo>
                  <a:pt x="0" y="0"/>
                </a:lnTo>
                <a:close/>
              </a:path>
            </a:pathLst>
          </a:custGeom>
          <a:blipFill>
            <a:blip r:embed="rId6">
              <a:alphaModFix amt="34000"/>
              <a:extLst>
                <a:ext uri="{96DAC541-7B7A-43D3-8B79-37D633B846F1}">
                  <asvg:svgBlip xmlns:asvg="http://schemas.microsoft.com/office/drawing/2016/SVG/main" r:embed="rId7"/>
                </a:ext>
              </a:extLst>
            </a:blip>
            <a:stretch>
              <a:fillRect/>
            </a:stretch>
          </a:blipFill>
        </p:spPr>
      </p:sp>
      <p:sp>
        <p:nvSpPr>
          <p:cNvPr id="11" name="TextBox 11"/>
          <p:cNvSpPr txBox="1"/>
          <p:nvPr/>
        </p:nvSpPr>
        <p:spPr>
          <a:xfrm>
            <a:off x="8420822" y="3035470"/>
            <a:ext cx="2245956" cy="352534"/>
          </a:xfrm>
          <a:prstGeom prst="rect">
            <a:avLst/>
          </a:prstGeom>
        </p:spPr>
        <p:txBody>
          <a:bodyPr lIns="0" tIns="0" rIns="0" bIns="0" rtlCol="0" anchor="t">
            <a:spAutoFit/>
          </a:bodyPr>
          <a:lstStyle/>
          <a:p>
            <a:pPr marL="0" lvl="0" indent="0" algn="l">
              <a:lnSpc>
                <a:spcPts val="2898"/>
              </a:lnSpc>
              <a:spcBef>
                <a:spcPct val="0"/>
              </a:spcBef>
            </a:pPr>
            <a:r>
              <a:rPr lang="en-US" sz="2070" spc="-95">
                <a:solidFill>
                  <a:srgbClr val="EBF5FE"/>
                </a:solidFill>
                <a:latin typeface="Garet"/>
                <a:ea typeface="Garet"/>
                <a:cs typeface="Garet"/>
                <a:sym typeface="Garet"/>
              </a:rPr>
              <a:t>Struktur Data</a:t>
            </a:r>
          </a:p>
        </p:txBody>
      </p:sp>
      <p:sp>
        <p:nvSpPr>
          <p:cNvPr id="12" name="TextBox 12"/>
          <p:cNvSpPr txBox="1"/>
          <p:nvPr/>
        </p:nvSpPr>
        <p:spPr>
          <a:xfrm>
            <a:off x="5298760" y="4198005"/>
            <a:ext cx="7690481" cy="1756964"/>
          </a:xfrm>
          <a:prstGeom prst="rect">
            <a:avLst/>
          </a:prstGeom>
        </p:spPr>
        <p:txBody>
          <a:bodyPr lIns="0" tIns="0" rIns="0" bIns="0" rtlCol="0" anchor="t">
            <a:spAutoFit/>
          </a:bodyPr>
          <a:lstStyle/>
          <a:p>
            <a:pPr marL="0" lvl="0" indent="0" algn="ctr">
              <a:lnSpc>
                <a:spcPts val="14459"/>
              </a:lnSpc>
              <a:spcBef>
                <a:spcPct val="0"/>
              </a:spcBef>
            </a:pPr>
            <a:r>
              <a:rPr lang="en-US" sz="10328" spc="-475">
                <a:solidFill>
                  <a:srgbClr val="EBF5FE"/>
                </a:solidFill>
                <a:latin typeface="Garet"/>
                <a:ea typeface="Garet"/>
                <a:cs typeface="Garet"/>
                <a:sym typeface="Garet"/>
              </a:rPr>
              <a:t>TERIMA</a:t>
            </a:r>
          </a:p>
        </p:txBody>
      </p:sp>
      <p:sp>
        <p:nvSpPr>
          <p:cNvPr id="13" name="TextBox 13"/>
          <p:cNvSpPr txBox="1"/>
          <p:nvPr/>
        </p:nvSpPr>
        <p:spPr>
          <a:xfrm>
            <a:off x="5298760" y="5472877"/>
            <a:ext cx="7690481" cy="1756964"/>
          </a:xfrm>
          <a:prstGeom prst="rect">
            <a:avLst/>
          </a:prstGeom>
        </p:spPr>
        <p:txBody>
          <a:bodyPr lIns="0" tIns="0" rIns="0" bIns="0" rtlCol="0" anchor="t">
            <a:spAutoFit/>
          </a:bodyPr>
          <a:lstStyle/>
          <a:p>
            <a:pPr marL="0" lvl="0" indent="0" algn="ctr">
              <a:lnSpc>
                <a:spcPts val="14459"/>
              </a:lnSpc>
              <a:spcBef>
                <a:spcPct val="0"/>
              </a:spcBef>
            </a:pPr>
            <a:r>
              <a:rPr lang="en-US" sz="10328" b="1" spc="-475">
                <a:solidFill>
                  <a:srgbClr val="EBF5FE"/>
                </a:solidFill>
                <a:latin typeface="Garet Bold"/>
                <a:ea typeface="Garet Bold"/>
                <a:cs typeface="Garet Bold"/>
                <a:sym typeface="Garet Bold"/>
              </a:rPr>
              <a:t>KASIH.</a:t>
            </a:r>
          </a:p>
        </p:txBody>
      </p:sp>
      <p:sp>
        <p:nvSpPr>
          <p:cNvPr id="14" name="TextBox 14"/>
          <p:cNvSpPr txBox="1"/>
          <p:nvPr/>
        </p:nvSpPr>
        <p:spPr>
          <a:xfrm>
            <a:off x="7059246" y="8388588"/>
            <a:ext cx="4132080" cy="298611"/>
          </a:xfrm>
          <a:prstGeom prst="rect">
            <a:avLst/>
          </a:prstGeom>
        </p:spPr>
        <p:txBody>
          <a:bodyPr lIns="0" tIns="0" rIns="0" bIns="0" rtlCol="0" anchor="t">
            <a:spAutoFit/>
          </a:bodyPr>
          <a:lstStyle/>
          <a:p>
            <a:pPr marL="0" lvl="0" indent="0" algn="l">
              <a:lnSpc>
                <a:spcPts val="2441"/>
              </a:lnSpc>
              <a:spcBef>
                <a:spcPct val="0"/>
              </a:spcBef>
            </a:pPr>
            <a:r>
              <a:rPr lang="en-US" sz="1743" b="1" spc="-80">
                <a:solidFill>
                  <a:srgbClr val="3C67BF"/>
                </a:solidFill>
                <a:latin typeface="Garet Bold"/>
                <a:ea typeface="Garet Bold"/>
                <a:cs typeface="Garet Bold"/>
                <a:sym typeface="Garet Bold"/>
              </a:rPr>
              <a:t>DSS Pemilihan Supplier Berbasis Graph</a:t>
            </a:r>
          </a:p>
        </p:txBody>
      </p:sp>
      <p:sp>
        <p:nvSpPr>
          <p:cNvPr id="15" name="Freeform 15"/>
          <p:cNvSpPr/>
          <p:nvPr/>
        </p:nvSpPr>
        <p:spPr>
          <a:xfrm flipH="1">
            <a:off x="12361310" y="1699773"/>
            <a:ext cx="6442371" cy="6726915"/>
          </a:xfrm>
          <a:custGeom>
            <a:avLst/>
            <a:gdLst/>
            <a:ahLst/>
            <a:cxnLst/>
            <a:rect l="l" t="t" r="r" b="b"/>
            <a:pathLst>
              <a:path w="6442371" h="6726915">
                <a:moveTo>
                  <a:pt x="6442371" y="0"/>
                </a:moveTo>
                <a:lnTo>
                  <a:pt x="0" y="0"/>
                </a:lnTo>
                <a:lnTo>
                  <a:pt x="0" y="6726915"/>
                </a:lnTo>
                <a:lnTo>
                  <a:pt x="6442371" y="6726915"/>
                </a:lnTo>
                <a:lnTo>
                  <a:pt x="6442371" y="0"/>
                </a:lnTo>
                <a:close/>
              </a:path>
            </a:pathLst>
          </a:custGeom>
          <a:blipFill>
            <a:blip r:embed="rId6">
              <a:alphaModFix amt="34000"/>
              <a:extLst>
                <a:ext uri="{96DAC541-7B7A-43D3-8B79-37D633B846F1}">
                  <asvg:svgBlip xmlns:asvg="http://schemas.microsoft.com/office/drawing/2016/SVG/main" r:embed="rId7"/>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363</Words>
  <Application>Microsoft Office PowerPoint</Application>
  <PresentationFormat>Kustom</PresentationFormat>
  <Paragraphs>50</Paragraphs>
  <Slides>6</Slides>
  <Notes>0</Notes>
  <HiddenSlides>0</HiddenSlides>
  <MMClips>0</MMClips>
  <ScaleCrop>false</ScaleCrop>
  <HeadingPairs>
    <vt:vector size="6" baseType="variant">
      <vt:variant>
        <vt:lpstr>Font Dipakai</vt:lpstr>
      </vt:variant>
      <vt:variant>
        <vt:i4>4</vt:i4>
      </vt:variant>
      <vt:variant>
        <vt:lpstr>Tema</vt:lpstr>
      </vt:variant>
      <vt:variant>
        <vt:i4>1</vt:i4>
      </vt:variant>
      <vt:variant>
        <vt:lpstr>Judul Slide</vt:lpstr>
      </vt:variant>
      <vt:variant>
        <vt:i4>6</vt:i4>
      </vt:variant>
    </vt:vector>
  </HeadingPairs>
  <TitlesOfParts>
    <vt:vector size="11" baseType="lpstr">
      <vt:lpstr>Garet</vt:lpstr>
      <vt:lpstr>Calibri</vt:lpstr>
      <vt:lpstr>Garet Bold</vt:lpstr>
      <vt:lpstr>Arial</vt:lpstr>
      <vt:lpstr>Office Theme</vt:lpstr>
      <vt:lpstr>Presentasi PowerPoint</vt:lpstr>
      <vt:lpstr>Presentasi PowerPoint</vt:lpstr>
      <vt:lpstr>Presentasi PowerPoint</vt:lpstr>
      <vt:lpstr>Presentasi PowerPoint</vt:lpstr>
      <vt:lpstr>Presentasi PowerPoint</vt:lpstr>
      <vt:lpstr>Presentasi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Presentasi PowerPoint</dc:title>
  <dc:creator>Mahayana Wiguna</dc:creator>
  <cp:lastModifiedBy>Pongo</cp:lastModifiedBy>
  <cp:revision>2</cp:revision>
  <dcterms:created xsi:type="dcterms:W3CDTF">2006-08-16T00:00:00Z</dcterms:created>
  <dcterms:modified xsi:type="dcterms:W3CDTF">2026-06-07T21:57:58Z</dcterms:modified>
  <dc:identifier>DAHL7foIzCc</dc:identifier>
</cp:coreProperties>
</file>